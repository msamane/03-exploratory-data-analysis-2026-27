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3"/>
  </p:notesMasterIdLst>
  <p:sldIdLst>
    <p:sldId id="317" r:id="rId2"/>
    <p:sldId id="517" r:id="rId3"/>
    <p:sldId id="557" r:id="rId4"/>
    <p:sldId id="559" r:id="rId5"/>
    <p:sldId id="558" r:id="rId6"/>
    <p:sldId id="560" r:id="rId7"/>
    <p:sldId id="561" r:id="rId8"/>
    <p:sldId id="562" r:id="rId9"/>
    <p:sldId id="564" r:id="rId10"/>
    <p:sldId id="565" r:id="rId11"/>
    <p:sldId id="563" r:id="rId12"/>
    <p:sldId id="566" r:id="rId13"/>
    <p:sldId id="567" r:id="rId14"/>
    <p:sldId id="569" r:id="rId15"/>
    <p:sldId id="568" r:id="rId16"/>
    <p:sldId id="571" r:id="rId17"/>
    <p:sldId id="572" r:id="rId18"/>
    <p:sldId id="574" r:id="rId19"/>
    <p:sldId id="579" r:id="rId20"/>
    <p:sldId id="577" r:id="rId21"/>
    <p:sldId id="575" r:id="rId22"/>
    <p:sldId id="580" r:id="rId23"/>
    <p:sldId id="581" r:id="rId24"/>
    <p:sldId id="570" r:id="rId25"/>
    <p:sldId id="582" r:id="rId26"/>
    <p:sldId id="583" r:id="rId27"/>
    <p:sldId id="584" r:id="rId28"/>
    <p:sldId id="585" r:id="rId29"/>
    <p:sldId id="586" r:id="rId30"/>
    <p:sldId id="587" r:id="rId31"/>
    <p:sldId id="588" r:id="rId32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7CF"/>
    <a:srgbClr val="000000"/>
    <a:srgbClr val="969898"/>
    <a:srgbClr val="6F768A"/>
    <a:srgbClr val="B3CEFB"/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34" autoAdjust="0"/>
    <p:restoredTop sz="83565"/>
  </p:normalViewPr>
  <p:slideViewPr>
    <p:cSldViewPr snapToGrid="0" showGuides="1">
      <p:cViewPr>
        <p:scale>
          <a:sx n="109" d="100"/>
          <a:sy n="109" d="100"/>
        </p:scale>
        <p:origin x="1368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83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two objectives in this exercise: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To produce a matrix that shows the sedimentation rate between each marker in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**cm/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kyr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Note that the units are different than the units you were given above, so you will need to account for that.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I also want to know what the average sedimentation for this site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7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Some samples appear more than once after merging, so this mean gives more weight to samples with more matching gamma measurements.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4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1F185D0-AFD5-29A8-8DBA-63C332F259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2F34A56-64A7-7D06-2C13-DE870A6B3F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E35EBC5-835C-E753-0718-4DC94AE7D1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B1788887-B968-8C8D-9236-5F4F1A184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941CFE3-E9FE-BA73-2A08-4753061CC4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2BEE681-8AB7-A062-C6CA-FCE051298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16624136-4B10-E87C-09E8-F602B21AB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194134-A515-0C24-CB74-92DACB0FD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7179-BCED-5A09-97D5-5D8DE034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E9AEF-EFC5-6013-B26E-A587B58F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8" name="Google Shape;21;p4">
            <a:extLst>
              <a:ext uri="{FF2B5EF4-FFF2-40B4-BE49-F238E27FC236}">
                <a16:creationId xmlns:a16="http://schemas.microsoft.com/office/drawing/2014/main" id="{97873659-BD6B-6ABF-0C38-A1663A6759AA}"/>
              </a:ext>
            </a:extLst>
          </p:cNvPr>
          <p:cNvCxnSpPr>
            <a:cxnSpLocks/>
          </p:cNvCxnSpPr>
          <p:nvPr userDrawn="1"/>
        </p:nvCxnSpPr>
        <p:spPr>
          <a:xfrm>
            <a:off x="0" y="74676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326C98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67519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  <p:sldLayoutId id="2147483715" r:id="rId64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bolpou@ic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esmckinney.com/book/data-cleaning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esmckinney.com/book/plotting-and-visualizatio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seaborn.pydata.org/generated/seaborn.regplot.html" TargetMode="Externa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anim.community/en/stable/" TargetMode="External"/><Relationship Id="rId2" Type="http://schemas.openxmlformats.org/officeDocument/2006/relationships/hyperlink" Target="https://plotly.com/python/" TargetMode="Externa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7A0A-A857-FDD6-F3E5-4DAEF33A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96FF70DA-9C1D-906A-F501-B8806AEEB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olorful swirls of paint&#10;&#10;AI-generated content may be incorrect.">
            <a:extLst>
              <a:ext uri="{FF2B5EF4-FFF2-40B4-BE49-F238E27FC236}">
                <a16:creationId xmlns:a16="http://schemas.microsoft.com/office/drawing/2014/main" id="{A0DD346C-C2A2-33BC-2D4E-182B3CED7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0" y="6923"/>
            <a:ext cx="1218893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C8ACDD-E905-4C13-90C5-0A907D54E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8EB6E-F71F-D6E7-43D2-A46404047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B365D9-D8D8-23D6-5A49-95D28491DE67}"/>
              </a:ext>
            </a:extLst>
          </p:cNvPr>
          <p:cNvSpPr txBox="1">
            <a:spLocks/>
          </p:cNvSpPr>
          <p:nvPr/>
        </p:nvSpPr>
        <p:spPr>
          <a:xfrm>
            <a:off x="517870" y="978408"/>
            <a:ext cx="8686796" cy="233424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rgbClr val="FFFFFF"/>
                </a:solidFill>
              </a:rPr>
              <a:t>Data Science and Machine Learning for Geoscientists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541D250-4331-F541-E8E4-F7B7A86A0EA0}"/>
              </a:ext>
            </a:extLst>
          </p:cNvPr>
          <p:cNvSpPr txBox="1">
            <a:spLocks/>
          </p:cNvSpPr>
          <p:nvPr/>
        </p:nvSpPr>
        <p:spPr>
          <a:xfrm>
            <a:off x="517870" y="3064365"/>
            <a:ext cx="9823560" cy="2096133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>
            <a:lvl1pPr marL="0" indent="0" algn="l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61991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984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5975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3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6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18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1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bg1"/>
                </a:solidFill>
              </a:rPr>
              <a:t>Lecture 3: Exploratory data analysis with plotting and visualisation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A27CA-C53D-F995-EF32-EAB043D6EE6F}"/>
              </a:ext>
            </a:extLst>
          </p:cNvPr>
          <p:cNvSpPr txBox="1"/>
          <p:nvPr/>
        </p:nvSpPr>
        <p:spPr>
          <a:xfrm>
            <a:off x="7800858" y="6327857"/>
            <a:ext cx="437651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Imperial College London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9E4EE-64F4-EEA5-39DF-0540061A6CDC}"/>
              </a:ext>
            </a:extLst>
          </p:cNvPr>
          <p:cNvSpPr txBox="1"/>
          <p:nvPr/>
        </p:nvSpPr>
        <p:spPr>
          <a:xfrm>
            <a:off x="433370" y="5744814"/>
            <a:ext cx="3533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Samaneh Abolpour Mofrad</a:t>
            </a:r>
          </a:p>
          <a:p>
            <a:r>
              <a:rPr lang="en-US" sz="1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Sabolpou@ic.ac.uk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22</a:t>
            </a:r>
            <a:r>
              <a:rPr lang="en-US" sz="1800" dirty="0">
                <a:solidFill>
                  <a:schemeClr val="bg1"/>
                </a:solidFill>
              </a:rPr>
              <a:t> October 2026</a:t>
            </a:r>
          </a:p>
        </p:txBody>
      </p:sp>
    </p:spTree>
    <p:extLst>
      <p:ext uri="{BB962C8B-B14F-4D97-AF65-F5344CB8AC3E}">
        <p14:creationId xmlns:p14="http://schemas.microsoft.com/office/powerpoint/2010/main" val="257255686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D39FC-1583-A47B-243C-090B37303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887A4-ABD8-D2B7-7A03-3B0B49D79CF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F4A60-E943-D736-54EB-3E3DC46C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BFC64-259B-440D-1F1B-24FC5D2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8EB4E8D-9F78-29AE-E508-4C904888CBA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1DFB1-E3AC-C13B-BFAD-D2895BD73C2A}"/>
              </a:ext>
            </a:extLst>
          </p:cNvPr>
          <p:cNvSpPr txBox="1"/>
          <p:nvPr/>
        </p:nvSpPr>
        <p:spPr>
          <a:xfrm>
            <a:off x="1346479" y="64711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287B2-1477-4699-97D9-B6EE42A76630}"/>
              </a:ext>
            </a:extLst>
          </p:cNvPr>
          <p:cNvSpPr txBox="1"/>
          <p:nvPr/>
        </p:nvSpPr>
        <p:spPr>
          <a:xfrm>
            <a:off x="964642" y="642089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9BA0F-AEE2-A35B-2023-EDD8E1D45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Recap of last week exercises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Exploratory 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Visualisation</a:t>
            </a:r>
            <a:endParaRPr lang="en-US" dirty="0"/>
          </a:p>
          <a:p>
            <a:pPr marL="504891" lvl="2" indent="-342900"/>
            <a:r>
              <a:rPr lang="en-US" dirty="0"/>
              <a:t>Matplotlib</a:t>
            </a:r>
          </a:p>
          <a:p>
            <a:pPr marL="504891" lvl="2" indent="-342900"/>
            <a:r>
              <a:rPr lang="en-US" dirty="0"/>
              <a:t>Seaborn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79753B7-298E-2091-0512-5E16F7C8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</p:spTree>
    <p:extLst>
      <p:ext uri="{BB962C8B-B14F-4D97-AF65-F5344CB8AC3E}">
        <p14:creationId xmlns:p14="http://schemas.microsoft.com/office/powerpoint/2010/main" val="4097167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CC37-8634-C66D-1EBC-A68C7C5C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recap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2F887-4E93-121A-1145-74E5FF21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6B6978-A1C3-F00C-B8D5-0ED8EF35031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What does the dataset describe?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7F5FD3-DD3F-1FEF-DFED-1849BE12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586" y="2723278"/>
            <a:ext cx="4050663" cy="321210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8DB252-EA44-8EDD-733B-9732C7BD02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8799597"/>
              </p:ext>
            </p:extLst>
          </p:nvPr>
        </p:nvGraphicFramePr>
        <p:xfrm>
          <a:off x="476250" y="2823019"/>
          <a:ext cx="5191125" cy="276225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Marker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 (Myr)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Depth (m)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15.0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35.0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100.3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6.1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160.3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435CAA5-1423-7238-55AE-1AF0CCB9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F48BF6-B454-3B9D-46FC-5E44FDB9A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808872"/>
            <a:ext cx="10617028" cy="7197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94CFC2-FB64-7985-C737-F8E84D08EA85}"/>
              </a:ext>
            </a:extLst>
          </p:cNvPr>
          <p:cNvSpPr txBox="1"/>
          <p:nvPr/>
        </p:nvSpPr>
        <p:spPr>
          <a:xfrm>
            <a:off x="476250" y="1219990"/>
            <a:ext cx="10617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array has shape (2,13): row 0 is age in Myr and row 1 is depth in metres. 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7A0767-CB8A-8B95-7AF4-B12F9E01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711DC7-60D0-8EEE-9B22-0C5BA62188B4}"/>
              </a:ext>
            </a:extLst>
          </p:cNvPr>
          <p:cNvSpPr txBox="1"/>
          <p:nvPr/>
        </p:nvSpPr>
        <p:spPr>
          <a:xfrm>
            <a:off x="476250" y="5688408"/>
            <a:ext cx="1746738" cy="35281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600" dirty="0">
                <a:solidFill>
                  <a:schemeClr val="tx1"/>
                </a:solidFill>
              </a:rPr>
              <a:t>Frist four markers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3FF495-7875-D528-B306-BBC74CF04F22}"/>
              </a:ext>
            </a:extLst>
          </p:cNvPr>
          <p:cNvSpPr txBox="1"/>
          <p:nvPr/>
        </p:nvSpPr>
        <p:spPr>
          <a:xfrm>
            <a:off x="8839198" y="5878563"/>
            <a:ext cx="422031" cy="28597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200" dirty="0">
                <a:solidFill>
                  <a:schemeClr val="tx1"/>
                </a:solidFill>
              </a:rPr>
              <a:t>Myr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197581-E7CC-4AD6-BFB6-E2E2D2D2391F}"/>
                  </a:ext>
                </a:extLst>
              </p:cNvPr>
              <p:cNvSpPr txBox="1"/>
              <p:nvPr/>
            </p:nvSpPr>
            <p:spPr>
              <a:xfrm flipH="1">
                <a:off x="8839198" y="5683955"/>
                <a:ext cx="309677" cy="452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197581-E7CC-4AD6-BFB6-E2E2D2D23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839198" y="5683955"/>
                <a:ext cx="309677" cy="4527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179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E734B-FE9D-7BAE-0071-11B819A0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12BE-35BB-DBFA-8AE4-4ED48614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80693-7E74-8157-42F2-6C5C44D9A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12314A"/>
                </a:solidFill>
                <a:ea typeface="Arial"/>
                <a:cs typeface="Arial"/>
              </a:rPr>
              <a:t>Rate = change in depth / change in age</a:t>
            </a:r>
          </a:p>
          <a:p>
            <a:endParaRPr lang="en-GB" b="1" dirty="0">
              <a:solidFill>
                <a:srgbClr val="12314A"/>
              </a:solidFill>
              <a:ea typeface="Arial"/>
              <a:cs typeface="Arial"/>
            </a:endParaRPr>
          </a:p>
          <a:p>
            <a:r>
              <a:rPr lang="en-GB" dirty="0">
                <a:solidFill>
                  <a:srgbClr val="243746"/>
                </a:solidFill>
                <a:ea typeface="Arial"/>
                <a:cs typeface="Arial"/>
              </a:rPr>
              <a:t>Depth change: 35 − 15 = 20 m</a:t>
            </a: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r>
              <a:rPr lang="en-GB" dirty="0">
                <a:solidFill>
                  <a:srgbClr val="243746"/>
                </a:solidFill>
                <a:ea typeface="Arial"/>
                <a:cs typeface="Arial"/>
              </a:rPr>
              <a:t>Age change: 2.1 − 0.5 = 1.6 Myr</a:t>
            </a: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r>
              <a:rPr lang="en-GB" dirty="0">
                <a:solidFill>
                  <a:srgbClr val="243746"/>
                </a:solidFill>
                <a:ea typeface="Arial"/>
                <a:cs typeface="Arial"/>
              </a:rPr>
              <a:t>Rate= 20 / 1.6 = 12.5 m/Myr</a:t>
            </a: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r>
              <a:rPr lang="en-GB" dirty="0">
                <a:solidFill>
                  <a:srgbClr val="243746"/>
                </a:solidFill>
                <a:ea typeface="Arial"/>
                <a:cs typeface="Arial"/>
              </a:rPr>
              <a:t>Rate= 12.5 × 100 / 1000 = 1.25 cm/</a:t>
            </a:r>
            <a:r>
              <a:rPr lang="en-GB" dirty="0" err="1">
                <a:solidFill>
                  <a:srgbClr val="243746"/>
                </a:solidFill>
                <a:ea typeface="Arial"/>
                <a:cs typeface="Arial"/>
              </a:rPr>
              <a:t>kyr</a:t>
            </a:r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b="1" dirty="0">
              <a:solidFill>
                <a:srgbClr val="12314A"/>
              </a:solidFill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CE7B7-6D31-3253-65BF-D4635357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4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BDEA296-4B54-3E2D-5FEF-0957E36FE9D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Sedimentation rate between two markers</a:t>
            </a:r>
            <a:endParaRPr lang="en-GB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51903C-09DE-9CEA-8220-F41B0323C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671943" y="1605756"/>
            <a:ext cx="5043807" cy="3857625"/>
          </a:xfrm>
          <a:prstGeom prst="rect">
            <a:avLst/>
          </a:prstGeom>
        </p:spPr>
      </p:pic>
      <p:sp>
        <p:nvSpPr>
          <p:cNvPr id="11" name="content-6">
            <a:extLst>
              <a:ext uri="{FF2B5EF4-FFF2-40B4-BE49-F238E27FC236}">
                <a16:creationId xmlns:a16="http://schemas.microsoft.com/office/drawing/2014/main" id="{A7B55B98-D646-3DA7-02D0-D47BA8F658FE}"/>
              </a:ext>
            </a:extLst>
          </p:cNvPr>
          <p:cNvSpPr>
            <a:spLocks noGrp="1"/>
          </p:cNvSpPr>
          <p:nvPr/>
        </p:nvSpPr>
        <p:spPr>
          <a:xfrm>
            <a:off x="6429375" y="1714500"/>
            <a:ext cx="528637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endParaRPr sz="2100" b="1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ontent-8">
            <a:extLst>
              <a:ext uri="{FF2B5EF4-FFF2-40B4-BE49-F238E27FC236}">
                <a16:creationId xmlns:a16="http://schemas.microsoft.com/office/drawing/2014/main" id="{870DBA2D-0713-9B7D-67EF-641FFD043E67}"/>
              </a:ext>
            </a:extLst>
          </p:cNvPr>
          <p:cNvSpPr>
            <a:spLocks noGrp="1"/>
          </p:cNvSpPr>
          <p:nvPr/>
        </p:nvSpPr>
        <p:spPr>
          <a:xfrm>
            <a:off x="6429375" y="3286125"/>
            <a:ext cx="52863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sz="1875" b="0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ontent-9">
            <a:extLst>
              <a:ext uri="{FF2B5EF4-FFF2-40B4-BE49-F238E27FC236}">
                <a16:creationId xmlns:a16="http://schemas.microsoft.com/office/drawing/2014/main" id="{89AF265D-953D-DC73-0248-695378C2F275}"/>
              </a:ext>
            </a:extLst>
          </p:cNvPr>
          <p:cNvSpPr>
            <a:spLocks noGrp="1"/>
          </p:cNvSpPr>
          <p:nvPr/>
        </p:nvSpPr>
        <p:spPr>
          <a:xfrm>
            <a:off x="6429375" y="3924300"/>
            <a:ext cx="52863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sz="1875" b="0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68D87B8-B254-22D9-2A31-9F6689F5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6B4F36A-4975-5802-39DA-3F871396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</p:spTree>
    <p:extLst>
      <p:ext uri="{BB962C8B-B14F-4D97-AF65-F5344CB8AC3E}">
        <p14:creationId xmlns:p14="http://schemas.microsoft.com/office/powerpoint/2010/main" val="401672374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03F9-B674-FBE2-4D33-F2222F08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recap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F5A8E-71A6-EC6D-6C01-9EC07602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5</a:t>
            </a:fld>
            <a:endParaRPr lang="en-GB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8F5051-DFAB-2AF6-3A9F-853DDFD998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Calculating all intervals with NumPy</a:t>
            </a:r>
            <a:endParaRPr lang="en-GB" dirty="0"/>
          </a:p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4D38E72-92B8-8739-2E39-FCB2A324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F572AE-E725-97F5-F889-2B65E8E32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77DF0F-62EE-7572-96FD-5B115322C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87" y="2697455"/>
            <a:ext cx="6578600" cy="299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A778F9-04C6-A2AE-6481-E89720F88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246" y="554322"/>
            <a:ext cx="5830988" cy="32735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2E35B9-133B-AB6E-FBDE-D37286213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999" y="3960461"/>
            <a:ext cx="6375400" cy="22733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F53E334-E0B4-BB73-A3E1-0A20399A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</p:spTree>
    <p:extLst>
      <p:ext uri="{BB962C8B-B14F-4D97-AF65-F5344CB8AC3E}">
        <p14:creationId xmlns:p14="http://schemas.microsoft.com/office/powerpoint/2010/main" val="852290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800B-72C1-1E07-F912-81C6D0D2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46C32-8337-2D18-4706-360BA88BD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1" y="1359959"/>
            <a:ext cx="5583238" cy="4866481"/>
          </a:xfrm>
        </p:spPr>
        <p:txBody>
          <a:bodyPr/>
          <a:lstStyle/>
          <a:p>
            <a:endParaRPr lang="en-GB" dirty="0"/>
          </a:p>
          <a:p>
            <a:pPr marL="342900" indent="-342900">
              <a:buFont typeface="Wingdings" pitchFamily="2" charset="2"/>
              <a:buChar char="Ø"/>
            </a:pPr>
            <a:r>
              <a:rPr lang="en-GB" dirty="0"/>
              <a:t>Arithmetic mean: each interval receives equal weight</a:t>
            </a:r>
          </a:p>
          <a:p>
            <a:endParaRPr lang="en-GB" dirty="0"/>
          </a:p>
          <a:p>
            <a:r>
              <a:rPr lang="en-GB" dirty="0"/>
              <a:t>rates = (</a:t>
            </a:r>
            <a:r>
              <a:rPr lang="en-GB" dirty="0" err="1"/>
              <a:t>depth_diff</a:t>
            </a:r>
            <a:r>
              <a:rPr lang="en-GB" dirty="0"/>
              <a:t> * 100) / (</a:t>
            </a:r>
            <a:r>
              <a:rPr lang="en-GB" dirty="0" err="1"/>
              <a:t>age_diff</a:t>
            </a:r>
            <a:r>
              <a:rPr lang="en-GB" dirty="0"/>
              <a:t> * 1000)</a:t>
            </a:r>
          </a:p>
          <a:p>
            <a:br>
              <a:rPr lang="en-GB" dirty="0"/>
            </a:br>
            <a:r>
              <a:rPr lang="en-GB" dirty="0" err="1">
                <a:ea typeface="Menlo"/>
                <a:cs typeface="Menlo"/>
              </a:rPr>
              <a:t>rates.mean</a:t>
            </a:r>
            <a:r>
              <a:rPr lang="en-GB" dirty="0">
                <a:ea typeface="Menlo"/>
                <a:cs typeface="Menlo"/>
              </a:rPr>
              <a:t>()</a:t>
            </a:r>
          </a:p>
          <a:p>
            <a:endParaRPr lang="en-GB" dirty="0">
              <a:ea typeface="Menlo"/>
              <a:cs typeface="Menlo"/>
            </a:endParaRPr>
          </a:p>
          <a:p>
            <a:r>
              <a:rPr lang="en-GB" dirty="0">
                <a:ea typeface="Arial"/>
                <a:cs typeface="Arial"/>
              </a:rPr>
              <a:t>1.7077 cm/</a:t>
            </a:r>
            <a:r>
              <a:rPr lang="en-GB" dirty="0" err="1">
                <a:ea typeface="Arial"/>
                <a:cs typeface="Arial"/>
              </a:rPr>
              <a:t>kyr</a:t>
            </a:r>
            <a:endParaRPr lang="en-GB" dirty="0">
              <a:ea typeface="Arial"/>
              <a:cs typeface="Arial"/>
            </a:endParaRPr>
          </a:p>
          <a:p>
            <a:endParaRPr lang="en-GB" dirty="0">
              <a:ea typeface="Menlo"/>
              <a:cs typeface="Menlo"/>
            </a:endParaRP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665BDC0-9CFF-5DE9-FE4B-0B77E8141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2532" y="1259492"/>
            <a:ext cx="5583238" cy="4866481"/>
          </a:xfrm>
        </p:spPr>
        <p:txBody>
          <a:bodyPr/>
          <a:lstStyle/>
          <a:p>
            <a:endParaRPr lang="en-GB" dirty="0"/>
          </a:p>
          <a:p>
            <a:pPr marL="342900" indent="-342900">
              <a:buFont typeface="Wingdings" pitchFamily="2" charset="2"/>
              <a:buChar char="Ø"/>
            </a:pPr>
            <a:r>
              <a:rPr lang="en-GB" dirty="0">
                <a:ea typeface="Arial"/>
                <a:cs typeface="Arial"/>
              </a:rPr>
              <a:t>Total thickness / total time</a:t>
            </a:r>
          </a:p>
          <a:p>
            <a:endParaRPr lang="en-GB" b="1" dirty="0">
              <a:cs typeface="Arial"/>
            </a:endParaRPr>
          </a:p>
          <a:p>
            <a:r>
              <a:rPr lang="en-GB" dirty="0"/>
              <a:t>Overall rate: total depth change divided by total elapsed time</a:t>
            </a:r>
          </a:p>
          <a:p>
            <a:endParaRPr lang="en-GB" dirty="0"/>
          </a:p>
          <a:p>
            <a:r>
              <a:rPr lang="en-GB" dirty="0" err="1"/>
              <a:t>overall_rate</a:t>
            </a:r>
            <a:r>
              <a:rPr lang="en-GB" dirty="0"/>
              <a:t> = (</a:t>
            </a:r>
            <a:r>
              <a:rPr lang="en-GB" dirty="0" err="1"/>
              <a:t>depth_diff.sum</a:t>
            </a:r>
            <a:r>
              <a:rPr lang="en-GB" dirty="0"/>
              <a:t>() * 100) / (</a:t>
            </a:r>
            <a:r>
              <a:rPr lang="en-GB" dirty="0" err="1"/>
              <a:t>age_diff.sum</a:t>
            </a:r>
            <a:r>
              <a:rPr lang="en-GB" dirty="0"/>
              <a:t>() * 1000)</a:t>
            </a:r>
          </a:p>
          <a:p>
            <a:endParaRPr lang="en-GB" dirty="0"/>
          </a:p>
          <a:p>
            <a:r>
              <a:rPr lang="en-GB" dirty="0"/>
              <a:t>OR</a:t>
            </a:r>
          </a:p>
          <a:p>
            <a:endParaRPr lang="en-GB" dirty="0"/>
          </a:p>
          <a:p>
            <a:r>
              <a:rPr lang="en-GB" dirty="0" err="1"/>
              <a:t>overall_rate</a:t>
            </a:r>
            <a:r>
              <a:rPr lang="en-GB" dirty="0"/>
              <a:t> = (depths[-1] - depths[0]) / (ages[-1] - ages[0]) * 0.1</a:t>
            </a:r>
          </a:p>
          <a:p>
            <a:endParaRPr lang="en-GB" dirty="0"/>
          </a:p>
          <a:p>
            <a:r>
              <a:rPr lang="en-GB" dirty="0">
                <a:ea typeface="Arial"/>
                <a:cs typeface="Arial"/>
              </a:rPr>
              <a:t>0.6675 cm/</a:t>
            </a:r>
            <a:r>
              <a:rPr lang="en-GB" dirty="0" err="1">
                <a:ea typeface="Arial"/>
                <a:cs typeface="Arial"/>
              </a:rPr>
              <a:t>kyr</a:t>
            </a:r>
            <a:endParaRPr lang="en-GB" dirty="0"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9B42A-D871-1676-79AC-26075430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6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1C0E365-D834-3A0C-5101-D5D8E099724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Two different meanings of “average”</a:t>
            </a:r>
            <a:endParaRPr lang="en-GB" dirty="0"/>
          </a:p>
          <a:p>
            <a:endParaRPr lang="en-US" dirty="0"/>
          </a:p>
        </p:txBody>
      </p:sp>
      <p:sp>
        <p:nvSpPr>
          <p:cNvPr id="10" name="content-8">
            <a:extLst>
              <a:ext uri="{FF2B5EF4-FFF2-40B4-BE49-F238E27FC236}">
                <a16:creationId xmlns:a16="http://schemas.microsoft.com/office/drawing/2014/main" id="{52878E15-F355-080B-578C-92BD5A9CA19F}"/>
              </a:ext>
            </a:extLst>
          </p:cNvPr>
          <p:cNvSpPr>
            <a:spLocks noGrp="1"/>
          </p:cNvSpPr>
          <p:nvPr/>
        </p:nvSpPr>
        <p:spPr>
          <a:xfrm>
            <a:off x="7810500" y="2905125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sz="2325" b="0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7DE679F-4C51-BD2F-820F-0C314908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FC8F7D8-B4EC-AD87-30E5-B49C8066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</p:spTree>
    <p:extLst>
      <p:ext uri="{BB962C8B-B14F-4D97-AF65-F5344CB8AC3E}">
        <p14:creationId xmlns:p14="http://schemas.microsoft.com/office/powerpoint/2010/main" val="100777694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DA72D7-9FB9-5045-F016-9333C931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recap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AC8E87-6FEB-DFBF-4CF9-791FA2834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34" y="1809555"/>
            <a:ext cx="4750291" cy="1993900"/>
          </a:xfrm>
        </p:spPr>
        <p:txBody>
          <a:bodyPr/>
          <a:lstStyle/>
          <a:p>
            <a:r>
              <a:rPr lang="en-GB" dirty="0"/>
              <a:t>Write a one-line program that outputs a series of Boolean values (True or False) that indicates whether the mean of each numeric column is bigger than 100.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4DC17-C435-1AA5-1DDB-C9F27A30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7</a:t>
            </a:fld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769F1C4-EC43-A435-7E98-1D6C71D673B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5E133B-F788-6505-BEF9-06FDD9D2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713" y="1124365"/>
            <a:ext cx="6388100" cy="279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2AC7B3-78B9-AF8F-C617-EE2DF11E0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813" y="4050967"/>
            <a:ext cx="7493000" cy="19939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896E424-B870-4BE6-7375-A82B1E73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490D338-361E-EE33-406F-79D7EB69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ABF7C-400D-F949-31BF-8C3196826AC0}"/>
              </a:ext>
            </a:extLst>
          </p:cNvPr>
          <p:cNvSpPr txBox="1"/>
          <p:nvPr/>
        </p:nvSpPr>
        <p:spPr>
          <a:xfrm>
            <a:off x="8386719" y="5344685"/>
            <a:ext cx="3488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Selected measurement columns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8ED66-000A-F62F-63C6-A7FE7A250578}"/>
              </a:ext>
            </a:extLst>
          </p:cNvPr>
          <p:cNvSpPr txBox="1"/>
          <p:nvPr/>
        </p:nvSpPr>
        <p:spPr>
          <a:xfrm>
            <a:off x="9397028" y="3463615"/>
            <a:ext cx="2379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All numeric columns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07218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989A-4C2C-0EFC-2529-004A627F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Exercise 4 recap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D2E38-63E0-BE39-E0B2-B5A47C861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6746332" cy="4866481"/>
          </a:xfrm>
        </p:spPr>
        <p:txBody>
          <a:bodyPr/>
          <a:lstStyle/>
          <a:p>
            <a:r>
              <a:rPr lang="en-GB" i="1" dirty="0"/>
              <a:t>What is the average carbonate content of samples from ODP Site 1207 where the gamma ray count is &gt;30?</a:t>
            </a:r>
            <a:endParaRPr lang="en-GB" dirty="0"/>
          </a:p>
          <a:p>
            <a:endParaRPr lang="en-GB" b="1" dirty="0">
              <a:ea typeface="Arial"/>
              <a:cs typeface="Arial"/>
            </a:endParaRPr>
          </a:p>
          <a:p>
            <a:endParaRPr lang="en-GB" b="1" dirty="0">
              <a:ea typeface="Arial"/>
              <a:cs typeface="Arial"/>
            </a:endParaRPr>
          </a:p>
          <a:p>
            <a:r>
              <a:rPr lang="en-GB" b="1" dirty="0">
                <a:ea typeface="Arial"/>
                <a:cs typeface="Arial"/>
              </a:rPr>
              <a:t>Geochemistry</a:t>
            </a:r>
          </a:p>
          <a:p>
            <a:r>
              <a:rPr lang="en-GB" dirty="0">
                <a:ea typeface="Arial"/>
                <a:cs typeface="Arial"/>
              </a:rPr>
              <a:t>Carbonate content: CaCO3 (</a:t>
            </a:r>
            <a:r>
              <a:rPr lang="en-GB" dirty="0" err="1">
                <a:ea typeface="Arial"/>
                <a:cs typeface="Arial"/>
              </a:rPr>
              <a:t>wt</a:t>
            </a:r>
            <a:r>
              <a:rPr lang="en-GB" dirty="0">
                <a:ea typeface="Arial"/>
                <a:cs typeface="Arial"/>
              </a:rPr>
              <a:t> %)</a:t>
            </a:r>
          </a:p>
          <a:p>
            <a:endParaRPr lang="en-GB" dirty="0">
              <a:ea typeface="Arial"/>
              <a:cs typeface="Arial"/>
            </a:endParaRPr>
          </a:p>
          <a:p>
            <a:r>
              <a:rPr lang="en-GB" b="1" dirty="0">
                <a:ea typeface="Arial"/>
                <a:cs typeface="Arial"/>
              </a:rPr>
              <a:t>Natural gamma radiation</a:t>
            </a:r>
          </a:p>
          <a:p>
            <a:r>
              <a:rPr lang="en-GB" dirty="0">
                <a:ea typeface="Arial"/>
                <a:cs typeface="Arial"/>
              </a:rPr>
              <a:t>Corr. Counts: corrected counts per second</a:t>
            </a:r>
          </a:p>
          <a:p>
            <a:endParaRPr lang="en-GB" dirty="0">
              <a:ea typeface="Arial"/>
              <a:cs typeface="Arial"/>
            </a:endParaRPr>
          </a:p>
          <a:p>
            <a:r>
              <a:rPr lang="en-GB" b="1" dirty="0">
                <a:ea typeface="Arial"/>
                <a:cs typeface="Arial"/>
              </a:rPr>
              <a:t>Shared coordinate: Depth (</a:t>
            </a:r>
            <a:r>
              <a:rPr lang="en-GB" b="1" dirty="0" err="1">
                <a:ea typeface="Arial"/>
                <a:cs typeface="Arial"/>
              </a:rPr>
              <a:t>mbsf</a:t>
            </a:r>
            <a:r>
              <a:rPr lang="en-GB" b="1" dirty="0">
                <a:ea typeface="Arial"/>
                <a:cs typeface="Arial"/>
              </a:rPr>
              <a:t>)</a:t>
            </a:r>
          </a:p>
          <a:p>
            <a:r>
              <a:rPr lang="en-GB" dirty="0" err="1"/>
              <a:t>mbsf</a:t>
            </a:r>
            <a:r>
              <a:rPr lang="en-GB" dirty="0"/>
              <a:t> = metres below seafloor.</a:t>
            </a:r>
            <a:endParaRPr lang="en-GB" dirty="0"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3008A-B1AF-5299-AD74-495D5826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8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FFB448E-8F4F-E036-DCF6-22C930A15FE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Two measurements from ODP Site 1207</a:t>
            </a:r>
            <a:endParaRPr lang="en-GB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92E41B-526F-401A-A51E-8C75DD46D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138" y="2086979"/>
            <a:ext cx="6334283" cy="420858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B050641-5648-9299-FC2A-454E01F9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9A2CAD5-B724-FA29-352B-330EE2E9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</p:spTree>
    <p:extLst>
      <p:ext uri="{BB962C8B-B14F-4D97-AF65-F5344CB8AC3E}">
        <p14:creationId xmlns:p14="http://schemas.microsoft.com/office/powerpoint/2010/main" val="15606046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DCC0D-4943-DF76-388E-6232839E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FD68-9210-0265-8E7D-93722DD35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5116010"/>
            <a:ext cx="11540763" cy="1145090"/>
          </a:xfrm>
        </p:spPr>
        <p:txBody>
          <a:bodyPr/>
          <a:lstStyle/>
          <a:p>
            <a:r>
              <a:rPr lang="en-GB" dirty="0">
                <a:solidFill>
                  <a:srgbClr val="243746"/>
                </a:solidFill>
                <a:ea typeface="Arial"/>
                <a:cs typeface="Arial"/>
              </a:rPr>
              <a:t>A shared key can create several matches for one sample.</a:t>
            </a:r>
          </a:p>
          <a:p>
            <a:r>
              <a:rPr lang="en-GB" b="1" dirty="0">
                <a:solidFill>
                  <a:srgbClr val="0000FF"/>
                </a:solidFill>
                <a:ea typeface="Arial"/>
                <a:cs typeface="Arial"/>
              </a:rPr>
              <a:t>How many merged rows will this example produce?</a:t>
            </a: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E12C4-041B-4428-7961-6DDB7460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9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938395F-5A82-3DE5-6850-D9531ED38BB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Matching observations using rounded depth</a:t>
            </a:r>
            <a:endParaRPr lang="en-GB" dirty="0"/>
          </a:p>
          <a:p>
            <a:endParaRPr lang="en-US" dirty="0"/>
          </a:p>
        </p:txBody>
      </p:sp>
      <p:sp>
        <p:nvSpPr>
          <p:cNvPr id="8" name="content-6">
            <a:extLst>
              <a:ext uri="{FF2B5EF4-FFF2-40B4-BE49-F238E27FC236}">
                <a16:creationId xmlns:a16="http://schemas.microsoft.com/office/drawing/2014/main" id="{7594FF99-5CDA-8C96-2E02-AA5BCD697C87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007E87"/>
                </a:solidFill>
                <a:latin typeface="Arial"/>
                <a:ea typeface="Arial"/>
                <a:cs typeface="Arial"/>
              </a:rPr>
              <a:t>One geochemistry sample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36A70BC-BC80-33A8-7178-457CBB93DFDF}"/>
              </a:ext>
            </a:extLst>
          </p:cNvPr>
          <p:cNvGraphicFramePr/>
          <p:nvPr/>
        </p:nvGraphicFramePr>
        <p:xfrm>
          <a:off x="476250" y="2095500"/>
          <a:ext cx="5238750" cy="123825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Depth (m)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Rounded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CaCO3 (wt%)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6.95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69.630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ontent-7">
            <a:extLst>
              <a:ext uri="{FF2B5EF4-FFF2-40B4-BE49-F238E27FC236}">
                <a16:creationId xmlns:a16="http://schemas.microsoft.com/office/drawing/2014/main" id="{2891AF5E-A053-57D1-E99A-C091B466EE9A}"/>
              </a:ext>
            </a:extLst>
          </p:cNvPr>
          <p:cNvSpPr>
            <a:spLocks noGrp="1"/>
          </p:cNvSpPr>
          <p:nvPr/>
        </p:nvSpPr>
        <p:spPr>
          <a:xfrm>
            <a:off x="6286500" y="1504950"/>
            <a:ext cx="5429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007E87"/>
                </a:solidFill>
                <a:latin typeface="Arial"/>
                <a:ea typeface="Arial"/>
                <a:cs typeface="Arial"/>
              </a:rPr>
              <a:t>Three gamma measurements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2755A3-4EAC-CBB9-2A46-AE63F2AFDB34}"/>
              </a:ext>
            </a:extLst>
          </p:cNvPr>
          <p:cNvGraphicFramePr/>
          <p:nvPr/>
        </p:nvGraphicFramePr>
        <p:xfrm>
          <a:off x="6286500" y="2095500"/>
          <a:ext cx="5429250" cy="247650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Depth (m)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Rounded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Counts (cps)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6.60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11.18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6.90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7.20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7.78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56EEBF4-33EF-3E11-B225-67A28619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C4642-4CE5-9314-8991-3DB31316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</p:spTree>
    <p:extLst>
      <p:ext uri="{BB962C8B-B14F-4D97-AF65-F5344CB8AC3E}">
        <p14:creationId xmlns:p14="http://schemas.microsoft.com/office/powerpoint/2010/main" val="23489864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2E5B-97C1-6661-4BB9-D73F8BCA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43CA-CB9D-C1D2-85DC-6163B3298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18" y="5097425"/>
            <a:ext cx="11540763" cy="8672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a typeface="Arial"/>
                <a:cs typeface="Arial"/>
              </a:rPr>
              <a:t>Rounded depth is the shared key.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a typeface="Arial"/>
                <a:cs typeface="Arial"/>
              </a:rPr>
              <a:t>The same carbonate measurement appears in all three rows.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14B3B-30EB-4AC5-DB82-46340024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10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9A50A5B-5CF0-9952-FF2B-2A5C80E168B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The merged table: three matches for one sample</a:t>
            </a:r>
            <a:endParaRPr lang="en-GB" dirty="0"/>
          </a:p>
          <a:p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E813AF4-780F-BD81-DDD6-49FCA234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4B39D96-BC52-A92D-A0C2-DE62BCA917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107775"/>
              </p:ext>
            </p:extLst>
          </p:nvPr>
        </p:nvGraphicFramePr>
        <p:xfrm>
          <a:off x="476250" y="1881490"/>
          <a:ext cx="11239500" cy="247650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Depth (mbsf)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CaCO3 (wt 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Corr. Counts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69.630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0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11.18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69.630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0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17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69.630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0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7.78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8354572-4187-27E7-6D8A-0CB7DE08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</p:spTree>
    <p:extLst>
      <p:ext uri="{BB962C8B-B14F-4D97-AF65-F5344CB8AC3E}">
        <p14:creationId xmlns:p14="http://schemas.microsoft.com/office/powerpoint/2010/main" val="17212990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7C13B-4E7E-F3A0-1612-141D1873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268D-442E-DEE8-D603-56B7BEB7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Exercise 4 recap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0772-7F39-6BF2-40B1-135AA04BA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4067908"/>
            <a:ext cx="5280029" cy="2193192"/>
          </a:xfrm>
        </p:spPr>
        <p:txBody>
          <a:bodyPr/>
          <a:lstStyle/>
          <a:p>
            <a:r>
              <a:rPr lang="en-GB" dirty="0">
                <a:ea typeface="Arial"/>
                <a:cs typeface="Arial"/>
              </a:rPr>
              <a:t>Mean across the selected rows: 5.03125 </a:t>
            </a:r>
            <a:r>
              <a:rPr lang="en-GB" dirty="0" err="1">
                <a:ea typeface="Arial"/>
                <a:cs typeface="Arial"/>
              </a:rPr>
              <a:t>wt</a:t>
            </a:r>
            <a:r>
              <a:rPr lang="en-GB" dirty="0">
                <a:ea typeface="Arial"/>
                <a:cs typeface="Arial"/>
              </a:rPr>
              <a:t>%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F9F91-32D5-0D51-BEE8-45AE836F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11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F7F83E1-4E57-2C65-FE56-31FD60F7347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sz="28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Copy, round, merge and filter</a:t>
            </a:r>
            <a:endParaRPr lang="en-GB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3A188A-CBD1-3D4B-922F-D4FBCB3D9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09" y="1359959"/>
            <a:ext cx="6011968" cy="23679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462D06-C6B5-D507-6199-6681BAC22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839"/>
          <a:stretch>
            <a:fillRect/>
          </a:stretch>
        </p:blipFill>
        <p:spPr>
          <a:xfrm>
            <a:off x="5605829" y="2802983"/>
            <a:ext cx="6410325" cy="3458117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F85F470-54DB-E299-3C77-D2DE74B5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9BFE83B-E854-70D0-683E-0C154972A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0D976-A324-36AD-9B81-5B7070F4AFC1}"/>
              </a:ext>
            </a:extLst>
          </p:cNvPr>
          <p:cNvSpPr txBox="1"/>
          <p:nvPr/>
        </p:nvSpPr>
        <p:spPr>
          <a:xfrm>
            <a:off x="6171389" y="15346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5290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75BE-60CA-30EA-52A4-81050399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000FF"/>
                </a:solidFill>
                <a:ea typeface="Arial"/>
                <a:cs typeface="Arial"/>
              </a:rPr>
              <a:t>Exercise 4 recap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1AAA7-FF1E-AAFC-0D34-D7ACBBBCC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C0A9-23BC-E1EB-BE8F-FE3B455D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8336E-8F56-E2E7-45B5-9E63B377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12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1E28E15-6600-C4C3-5AB2-1AC870D4C02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AE20D4-22E4-815E-EB30-2E75E264C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6915798"/>
              </p:ext>
            </p:extLst>
          </p:nvPr>
        </p:nvGraphicFramePr>
        <p:xfrm>
          <a:off x="957684" y="1365812"/>
          <a:ext cx="9899369" cy="2373005"/>
        </p:xfrm>
        <a:graphic>
          <a:graphicData uri="http://schemas.openxmlformats.org/drawingml/2006/table">
            <a:tbl>
              <a:tblPr/>
              <a:tblGrid>
                <a:gridCol w="637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1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60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/ selection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Columns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0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Geochemistry (geochemistry_df)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0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Natural gamma radiation (ngr_df)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746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0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After merging (merged)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01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After filtering Corr. Counts &gt; 30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FF2F89D-E022-D80F-F385-03900806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975" y="3876089"/>
            <a:ext cx="6981931" cy="244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2495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C923-F385-0AEE-6D8A-716B7D02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Exploratory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1062A-BA57-BCA4-9BBB-EC0F59360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22" y="1252537"/>
            <a:ext cx="9523531" cy="14423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EDA is </a:t>
            </a:r>
            <a:r>
              <a:rPr lang="en-US" altLang="en-US" dirty="0"/>
              <a:t>an investigative process to summarize, and visualize data sets to discover patterns, spot anomalies, test assumptions, and check relationships before building models.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9386E-0BDD-EBAB-4C2E-BC771E52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0EA48-BCD1-7CCE-4A70-058123F2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632E-F5A6-1185-45A3-BAA4971F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13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1F28551-882B-C99D-B9C3-FD4C27FCB1E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A scientific question before a plot</a:t>
            </a:r>
            <a:endParaRPr lang="en-GB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C9A185-1707-210E-24A5-C0F230D5AC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6516231"/>
              </p:ext>
            </p:extLst>
          </p:nvPr>
        </p:nvGraphicFramePr>
        <p:xfrm>
          <a:off x="476250" y="2955678"/>
          <a:ext cx="11239500" cy="3143250"/>
        </p:xfrm>
        <a:graphic>
          <a:graphicData uri="http://schemas.openxmlformats.org/drawingml/2006/table">
            <a:tbl>
              <a:tblPr/>
              <a:tblGrid>
                <a:gridCol w="6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0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useful starting plot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How are values distributed?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Histogram or density plot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How do two measurements vary together?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Scatter plot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Where do events occur?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Map or coordinate plot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How do groups differ?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Box plot or grouped distribution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FD4C24-C34D-E504-A6CB-BEE9350F5CBE}"/>
              </a:ext>
            </a:extLst>
          </p:cNvPr>
          <p:cNvSpPr txBox="1"/>
          <p:nvPr/>
        </p:nvSpPr>
        <p:spPr>
          <a:xfrm>
            <a:off x="4032738" y="38686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B90CE9-EE5C-5811-8B7E-32DF4069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404" y="221188"/>
            <a:ext cx="1827009" cy="23643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F807AB-7052-6982-76B5-D1A08EE046CD}"/>
              </a:ext>
            </a:extLst>
          </p:cNvPr>
          <p:cNvSpPr txBox="1"/>
          <p:nvPr/>
        </p:nvSpPr>
        <p:spPr>
          <a:xfrm>
            <a:off x="10140463" y="2616479"/>
            <a:ext cx="1078520" cy="313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600" dirty="0">
                <a:solidFill>
                  <a:schemeClr val="tx1"/>
                </a:solidFill>
                <a:hlinkClick r:id="rId3"/>
              </a:rPr>
              <a:t>Chapter 7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dirty="0">
                <a:solidFill>
                  <a:schemeClr val="tx1"/>
                </a:solidFill>
                <a:hlinkClick r:id="rId4"/>
              </a:rPr>
              <a:t>9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5650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1D20-BA82-6A1B-DAC1-EB479ABA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8092D-D49C-F3D3-291B-ABA84E241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GB" dirty="0"/>
              <a:t>Library for creating static, animated, and interactive visualizations in Python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GB" dirty="0"/>
              <a:t>Allows you to plot graphs and other visuals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GB" dirty="0"/>
              <a:t>Extremely fine control over the plot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7990A-CDFC-25E1-0547-1278A2C1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57EA-D8EB-CB0A-C2CC-98677019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A88D6-523B-1985-B062-6E5DD2AE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14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8083EF9-8FC2-0AD3-E854-70E2232DE87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 err="1"/>
              <a:t>Visualisation</a:t>
            </a:r>
            <a:r>
              <a:rPr lang="en-US" dirty="0"/>
              <a:t> in Python</a:t>
            </a:r>
          </a:p>
          <a:p>
            <a:endParaRPr lang="en-US" dirty="0"/>
          </a:p>
        </p:txBody>
      </p:sp>
      <p:pic>
        <p:nvPicPr>
          <p:cNvPr id="16" name="Picture 2" descr="Python Plotting With Matplotlib (Guide) – Real Python">
            <a:extLst>
              <a:ext uri="{FF2B5EF4-FFF2-40B4-BE49-F238E27FC236}">
                <a16:creationId xmlns:a16="http://schemas.microsoft.com/office/drawing/2014/main" id="{0A22CE5A-0A01-6228-3F4E-B3BBF6CDF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0" t="6640" r="8152" b="7231"/>
          <a:stretch>
            <a:fillRect/>
          </a:stretch>
        </p:blipFill>
        <p:spPr bwMode="auto">
          <a:xfrm>
            <a:off x="5721404" y="2477729"/>
            <a:ext cx="5059668" cy="351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7CC4EE-3EB8-FE68-2DAA-315392217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440" y="3827859"/>
            <a:ext cx="24257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4050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10C3-23DE-842F-81F9-17ED4C6A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000FF"/>
                </a:solidFill>
                <a:ea typeface="Arial"/>
                <a:cs typeface="Arial"/>
              </a:rPr>
              <a:t>Exploratory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2581-08B4-A974-CFF1-101F45B2E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a typeface="Arial"/>
                <a:cs typeface="Arial"/>
              </a:rPr>
              <a:t>One row is an event, but not every event is an earthquake</a:t>
            </a:r>
          </a:p>
          <a:p>
            <a:r>
              <a:rPr lang="en-GB" dirty="0">
                <a:ea typeface="Arial"/>
                <a:cs typeface="Arial"/>
              </a:rPr>
              <a:t>313,342 catalogue entries, 293,145 labelled “earthquake”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3C659-CA91-C0D3-5E65-518CD2F5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F8833-F995-70E9-4DCC-85F25D22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06372-5BAF-6971-7FF2-A85185E5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15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0B627CA-63D3-4F06-EA57-4448A219D8C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The California event catalogue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57C17E9-F716-D32A-3B2B-C91F3CD5FFFB}"/>
              </a:ext>
            </a:extLst>
          </p:cNvPr>
          <p:cNvSpPr txBox="1">
            <a:spLocks/>
          </p:cNvSpPr>
          <p:nvPr/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ctr" defTabSz="914353" rtl="0" eaLnBrk="1" latinLnBrk="0" hangingPunct="1">
              <a:defRPr sz="85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23107-4986-8758-3A93-3D74F35908CC}" type="slidenum">
              <a:rPr lang="en-GB" smtClean="0"/>
              <a:pPr/>
              <a:t>15</a:t>
            </a:fld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B0BFE94-A48C-E88B-488E-AAB1E0D1D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002646"/>
              </p:ext>
            </p:extLst>
          </p:nvPr>
        </p:nvGraphicFramePr>
        <p:xfrm>
          <a:off x="476250" y="2474643"/>
          <a:ext cx="5350119" cy="2659932"/>
        </p:xfrm>
        <a:graphic>
          <a:graphicData uri="http://schemas.openxmlformats.org/drawingml/2006/table">
            <a:tbl>
              <a:tblPr/>
              <a:tblGrid>
                <a:gridCol w="2045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32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Column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Earthquake, explosion, 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mag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Magnitude estimate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Event depth in kilometres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longitude / latitude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Event location in degrees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32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sig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Significance 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content-7">
            <a:extLst>
              <a:ext uri="{FF2B5EF4-FFF2-40B4-BE49-F238E27FC236}">
                <a16:creationId xmlns:a16="http://schemas.microsoft.com/office/drawing/2014/main" id="{E36F23D5-986C-79CE-0539-6A31D9894D60}"/>
              </a:ext>
            </a:extLst>
          </p:cNvPr>
          <p:cNvSpPr>
            <a:spLocks noGrp="1"/>
          </p:cNvSpPr>
          <p:nvPr/>
        </p:nvSpPr>
        <p:spPr>
          <a:xfrm>
            <a:off x="7381875" y="2098431"/>
            <a:ext cx="4333875" cy="393355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</a:lstStyle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nb-NO" b="0" dirty="0">
              <a:solidFill>
                <a:srgbClr val="12314A"/>
              </a:solidFill>
              <a:ea typeface="Menlo"/>
              <a:cs typeface="Menlo"/>
            </a:endParaRP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raw = </a:t>
            </a:r>
            <a:r>
              <a:rPr b="0" dirty="0" err="1">
                <a:solidFill>
                  <a:srgbClr val="12314A"/>
                </a:solidFill>
                <a:ea typeface="Menlo"/>
                <a:cs typeface="Menlo"/>
              </a:rPr>
              <a:t>pd.read_csv</a:t>
            </a: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(</a:t>
            </a: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    "Datasets/</a:t>
            </a:r>
            <a:r>
              <a:rPr b="0" dirty="0" err="1">
                <a:solidFill>
                  <a:srgbClr val="12314A"/>
                </a:solidFill>
                <a:ea typeface="Menlo"/>
                <a:cs typeface="Menlo"/>
              </a:rPr>
              <a:t>combined_eq</a:t>
            </a: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_"</a:t>
            </a: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    "</a:t>
            </a:r>
            <a:r>
              <a:rPr b="0" dirty="0" err="1">
                <a:solidFill>
                  <a:srgbClr val="12314A"/>
                </a:solidFill>
                <a:ea typeface="Menlo"/>
                <a:cs typeface="Menlo"/>
              </a:rPr>
              <a:t>california_clean.csv</a:t>
            </a: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"</a:t>
            </a: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)</a:t>
            </a:r>
          </a:p>
          <a:p>
            <a:endParaRPr b="0" dirty="0">
              <a:solidFill>
                <a:srgbClr val="12314A"/>
              </a:solidFill>
              <a:ea typeface="Menlo"/>
              <a:cs typeface="Menlo"/>
            </a:endParaRP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 err="1">
                <a:solidFill>
                  <a:srgbClr val="12314A"/>
                </a:solidFill>
                <a:ea typeface="Menlo"/>
                <a:cs typeface="Menlo"/>
              </a:rPr>
              <a:t>is_quake</a:t>
            </a: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 = raw["type"].eq(</a:t>
            </a: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    "earthquake"</a:t>
            </a: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)</a:t>
            </a: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eq = </a:t>
            </a:r>
            <a:r>
              <a:rPr b="0" dirty="0" err="1">
                <a:solidFill>
                  <a:srgbClr val="12314A"/>
                </a:solidFill>
                <a:ea typeface="Menlo"/>
                <a:cs typeface="Menlo"/>
              </a:rPr>
              <a:t>raw.loc</a:t>
            </a: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[</a:t>
            </a:r>
            <a:r>
              <a:rPr b="0" dirty="0" err="1">
                <a:solidFill>
                  <a:srgbClr val="12314A"/>
                </a:solidFill>
                <a:ea typeface="Menlo"/>
                <a:cs typeface="Menlo"/>
              </a:rPr>
              <a:t>is_quake</a:t>
            </a:r>
            <a:r>
              <a:rPr b="0" dirty="0">
                <a:solidFill>
                  <a:srgbClr val="12314A"/>
                </a:solidFill>
                <a:ea typeface="Menlo"/>
                <a:cs typeface="Menlo"/>
              </a:rPr>
              <a:t>].copy()</a:t>
            </a:r>
            <a:endParaRPr lang="nb-NO" b="0" dirty="0">
              <a:solidFill>
                <a:srgbClr val="12314A"/>
              </a:solidFill>
              <a:ea typeface="Menlo"/>
              <a:cs typeface="Menlo"/>
            </a:endParaRPr>
          </a:p>
          <a:p>
            <a: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/>
          </a:p>
          <a:p>
            <a: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/>
              <a:t>raw.type.nunique</a:t>
            </a:r>
            <a:r>
              <a:rPr lang="en-GB" dirty="0"/>
              <a:t>()</a:t>
            </a:r>
          </a:p>
          <a:p>
            <a: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/>
              <a:t> # 15</a:t>
            </a:r>
          </a:p>
          <a:p>
            <a:pPr>
              <a:buNone/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b="0" dirty="0">
              <a:solidFill>
                <a:srgbClr val="12314A"/>
              </a:solidFill>
              <a:ea typeface="Menlo"/>
              <a:cs typeface="Menlo"/>
            </a:endParaRPr>
          </a:p>
        </p:txBody>
      </p:sp>
      <p:sp>
        <p:nvSpPr>
          <p:cNvPr id="14" name="content-8">
            <a:extLst>
              <a:ext uri="{FF2B5EF4-FFF2-40B4-BE49-F238E27FC236}">
                <a16:creationId xmlns:a16="http://schemas.microsoft.com/office/drawing/2014/main" id="{E3930740-1024-BF52-5FFB-F174AF3DC31E}"/>
              </a:ext>
            </a:extLst>
          </p:cNvPr>
          <p:cNvSpPr>
            <a:spLocks noGrp="1"/>
          </p:cNvSpPr>
          <p:nvPr/>
        </p:nvSpPr>
        <p:spPr>
          <a:xfrm>
            <a:off x="476250" y="5899150"/>
            <a:ext cx="11239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chemeClr val="accent3"/>
                </a:solidFill>
                <a:latin typeface="Arial"/>
                <a:ea typeface="Arial"/>
                <a:cs typeface="Arial"/>
              </a:rPr>
              <a:t>First inspection: </a:t>
            </a:r>
            <a:r>
              <a:rPr sz="1875" b="0" dirty="0" err="1">
                <a:solidFill>
                  <a:schemeClr val="accent3"/>
                </a:solidFill>
                <a:latin typeface="Arial"/>
                <a:ea typeface="Arial"/>
                <a:cs typeface="Arial"/>
              </a:rPr>
              <a:t>raw.head</a:t>
            </a:r>
            <a:r>
              <a:rPr sz="1875" b="0" dirty="0">
                <a:solidFill>
                  <a:schemeClr val="accent3"/>
                </a:solidFill>
                <a:latin typeface="Arial"/>
                <a:ea typeface="Arial"/>
                <a:cs typeface="Arial"/>
              </a:rPr>
              <a:t>(), </a:t>
            </a:r>
            <a:r>
              <a:rPr sz="1875" b="0" dirty="0" err="1">
                <a:solidFill>
                  <a:schemeClr val="accent3"/>
                </a:solidFill>
                <a:latin typeface="Arial"/>
                <a:ea typeface="Arial"/>
                <a:cs typeface="Arial"/>
              </a:rPr>
              <a:t>raw.info</a:t>
            </a:r>
            <a:r>
              <a:rPr sz="1875" b="0" dirty="0">
                <a:solidFill>
                  <a:schemeClr val="accent3"/>
                </a:solidFill>
                <a:latin typeface="Arial"/>
                <a:ea typeface="Arial"/>
                <a:cs typeface="Arial"/>
              </a:rPr>
              <a:t>(), raw["type"].</a:t>
            </a:r>
            <a:r>
              <a:rPr sz="1875" b="0" dirty="0" err="1">
                <a:solidFill>
                  <a:schemeClr val="accent3"/>
                </a:solidFill>
                <a:latin typeface="Arial"/>
                <a:ea typeface="Arial"/>
                <a:cs typeface="Arial"/>
              </a:rPr>
              <a:t>value_counts</a:t>
            </a:r>
            <a:r>
              <a:rPr sz="1875" b="0" dirty="0">
                <a:solidFill>
                  <a:schemeClr val="accent3"/>
                </a:solidFill>
                <a:latin typeface="Arial"/>
                <a:ea typeface="Arial"/>
                <a:cs typeface="Arial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8747735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C24A-D80C-C969-02C0-FFFF20B8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Matplotlib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6A913-A724-BC57-08C5-C9C5BCEBE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1" y="1394619"/>
            <a:ext cx="10998692" cy="157131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ea typeface="Menlo"/>
                <a:cs typeface="Menlo"/>
              </a:rPr>
              <a:t>import </a:t>
            </a:r>
            <a:r>
              <a:rPr lang="en-GB" dirty="0" err="1">
                <a:ea typeface="Menlo"/>
                <a:cs typeface="Menlo"/>
              </a:rPr>
              <a:t>matplotlib.pyplot</a:t>
            </a:r>
            <a:r>
              <a:rPr lang="en-GB" dirty="0">
                <a:ea typeface="Menlo"/>
                <a:cs typeface="Menlo"/>
              </a:rPr>
              <a:t> as </a:t>
            </a:r>
            <a:r>
              <a:rPr lang="en-GB" dirty="0" err="1">
                <a:ea typeface="Menlo"/>
                <a:cs typeface="Menlo"/>
              </a:rPr>
              <a:t>plt</a:t>
            </a:r>
            <a:endParaRPr lang="en-GB" dirty="0">
              <a:ea typeface="Menlo"/>
              <a:cs typeface="Menlo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ea typeface="Menlo"/>
                <a:cs typeface="Menlo"/>
              </a:rPr>
              <a:t>fig, </a:t>
            </a:r>
            <a:r>
              <a:rPr lang="en-GB" dirty="0" err="1">
                <a:ea typeface="Menlo"/>
                <a:cs typeface="Menlo"/>
              </a:rPr>
              <a:t>ax</a:t>
            </a:r>
            <a:r>
              <a:rPr lang="en-GB" dirty="0">
                <a:ea typeface="Menlo"/>
                <a:cs typeface="Menlo"/>
              </a:rPr>
              <a:t> = </a:t>
            </a:r>
            <a:r>
              <a:rPr lang="en-GB" dirty="0" err="1">
                <a:ea typeface="Menlo"/>
                <a:cs typeface="Menlo"/>
              </a:rPr>
              <a:t>plt.subplots</a:t>
            </a:r>
            <a:r>
              <a:rPr lang="en-GB" dirty="0">
                <a:ea typeface="Menlo"/>
                <a:cs typeface="Menlo"/>
              </a:rPr>
              <a:t>()  # One plotting area</a:t>
            </a: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ea typeface="Menlo"/>
                <a:cs typeface="Menlo"/>
              </a:rPr>
              <a:t>fig, axes = </a:t>
            </a:r>
            <a:r>
              <a:rPr lang="en-GB" dirty="0" err="1">
                <a:ea typeface="Menlo"/>
                <a:cs typeface="Menlo"/>
              </a:rPr>
              <a:t>plt.subplots</a:t>
            </a:r>
            <a:r>
              <a:rPr lang="en-GB" dirty="0">
                <a:ea typeface="Menlo"/>
                <a:cs typeface="Menlo"/>
              </a:rPr>
              <a:t>(1, 2, </a:t>
            </a:r>
            <a:r>
              <a:rPr lang="en-GB" dirty="0" err="1">
                <a:ea typeface="Menlo"/>
                <a:cs typeface="Menlo"/>
              </a:rPr>
              <a:t>figsize</a:t>
            </a:r>
            <a:r>
              <a:rPr lang="en-GB" dirty="0">
                <a:ea typeface="Menlo"/>
                <a:cs typeface="Menlo"/>
              </a:rPr>
              <a:t>=(10, 4))</a:t>
            </a: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ea typeface="Arial"/>
                <a:cs typeface="Arial"/>
              </a:rPr>
              <a:t>axes[0] is the left plotting area; axes[1] is the right one.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A3E5-0B68-0C9F-CC04-B3A3AD81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CF08C-71C7-9505-FDE3-457CDA2F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B08C-D8CD-292B-42F1-FDA42626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16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450DBFC-9A18-6AF4-E967-71DBE4D8665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The Figure holds the Axes</a:t>
            </a:r>
            <a:endParaRPr lang="en-GB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BEA91C-8FC5-2252-86F7-4523C129D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123617" y="2965938"/>
            <a:ext cx="6621428" cy="32718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9F7D23-DBE5-C302-1AB3-CC7E78865541}"/>
              </a:ext>
            </a:extLst>
          </p:cNvPr>
          <p:cNvSpPr txBox="1"/>
          <p:nvPr/>
        </p:nvSpPr>
        <p:spPr>
          <a:xfrm>
            <a:off x="446956" y="3542364"/>
            <a:ext cx="41602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Figure is the whole output canvas.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 Axes is an individual plotting area with its data and axes.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single figure can have several Axes.</a:t>
            </a:r>
          </a:p>
        </p:txBody>
      </p:sp>
    </p:spTree>
    <p:extLst>
      <p:ext uri="{BB962C8B-B14F-4D97-AF65-F5344CB8AC3E}">
        <p14:creationId xmlns:p14="http://schemas.microsoft.com/office/powerpoint/2010/main" val="287249194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52FD-100B-4301-AD1C-47D9B74AD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Scatter plots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5CAAD-F385-A22F-674A-7A02ED0EA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464334"/>
            <a:ext cx="5583238" cy="2952335"/>
          </a:xfrm>
        </p:spPr>
        <p:txBody>
          <a:bodyPr/>
          <a:lstStyle/>
          <a:p>
            <a:pPr>
              <a:lnSpc>
                <a:spcPct val="150000"/>
              </a:lnSpc>
              <a:defRPr sz="18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>
                <a:ea typeface="Menlo"/>
                <a:cs typeface="Menlo"/>
              </a:rPr>
              <a:t>sample = </a:t>
            </a:r>
            <a:r>
              <a:rPr lang="en-GB" sz="1800" dirty="0" err="1">
                <a:ea typeface="Menlo"/>
                <a:cs typeface="Menlo"/>
              </a:rPr>
              <a:t>eq.sample</a:t>
            </a:r>
            <a:r>
              <a:rPr lang="en-GB" sz="1800" dirty="0">
                <a:ea typeface="Menlo"/>
                <a:cs typeface="Menlo"/>
              </a:rPr>
              <a:t>(</a:t>
            </a:r>
          </a:p>
          <a:p>
            <a:pPr>
              <a:lnSpc>
                <a:spcPct val="150000"/>
              </a:lnSpc>
              <a:defRPr sz="18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>
                <a:ea typeface="Menlo"/>
                <a:cs typeface="Menlo"/>
              </a:rPr>
              <a:t>    n=5000, </a:t>
            </a:r>
            <a:r>
              <a:rPr lang="en-GB" sz="1800" dirty="0" err="1">
                <a:ea typeface="Menlo"/>
                <a:cs typeface="Menlo"/>
              </a:rPr>
              <a:t>random_state</a:t>
            </a:r>
            <a:r>
              <a:rPr lang="en-GB" sz="1800" dirty="0">
                <a:ea typeface="Menlo"/>
                <a:cs typeface="Menlo"/>
              </a:rPr>
              <a:t>=7)</a:t>
            </a:r>
          </a:p>
          <a:p>
            <a:pPr>
              <a:lnSpc>
                <a:spcPct val="150000"/>
              </a:lnSpc>
              <a:defRPr sz="18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 err="1">
                <a:ea typeface="Menlo"/>
                <a:cs typeface="Menlo"/>
              </a:rPr>
              <a:t>plt.scatter</a:t>
            </a:r>
            <a:r>
              <a:rPr lang="en-GB" sz="1800" dirty="0">
                <a:ea typeface="Menlo"/>
                <a:cs typeface="Menlo"/>
              </a:rPr>
              <a:t>(</a:t>
            </a:r>
          </a:p>
          <a:p>
            <a:pPr>
              <a:lnSpc>
                <a:spcPct val="150000"/>
              </a:lnSpc>
              <a:defRPr sz="18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>
                <a:ea typeface="Menlo"/>
                <a:cs typeface="Menlo"/>
              </a:rPr>
              <a:t>    sample["mag"],</a:t>
            </a:r>
          </a:p>
          <a:p>
            <a:pPr>
              <a:lnSpc>
                <a:spcPct val="150000"/>
              </a:lnSpc>
              <a:defRPr sz="18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>
                <a:ea typeface="Menlo"/>
                <a:cs typeface="Menlo"/>
              </a:rPr>
              <a:t>    sample["depth"],</a:t>
            </a:r>
          </a:p>
          <a:p>
            <a:pPr>
              <a:lnSpc>
                <a:spcPct val="150000"/>
              </a:lnSpc>
              <a:defRPr sz="18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>
                <a:ea typeface="Menlo"/>
                <a:cs typeface="Menlo"/>
              </a:rPr>
              <a:t>    s=10, alpha=0.25)</a:t>
            </a:r>
          </a:p>
          <a:p>
            <a:pPr>
              <a:lnSpc>
                <a:spcPct val="150000"/>
              </a:lnSpc>
              <a:defRPr sz="18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sz="1800" dirty="0">
              <a:ea typeface="Menlo"/>
              <a:cs typeface="Menlo"/>
            </a:endParaRPr>
          </a:p>
          <a:p>
            <a:endParaRPr lang="en-US" sz="18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1E2559A-26E1-3996-98B1-93FD5E086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5800" y="5200355"/>
            <a:ext cx="7098315" cy="553682"/>
          </a:xfrm>
        </p:spPr>
        <p:txBody>
          <a:bodyPr/>
          <a:lstStyle/>
          <a:p>
            <a:r>
              <a:rPr lang="en-GB" dirty="0">
                <a:ea typeface="Arial"/>
                <a:cs typeface="Arial"/>
              </a:rPr>
              <a:t>One dot represents one event. What patterns can you see?</a:t>
            </a:r>
            <a:endParaRPr lang="en-GB" dirty="0">
              <a:ea typeface="Menlo"/>
              <a:cs typeface="Menlo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9AEEA-F734-EF7B-7CDF-8BA0B13B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5F8CD-E154-E6CB-00E6-EC9314DE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A8183-EB26-207F-691D-41ABB0A3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17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CC779BC-7D0F-EAFF-BF22-5B507AFCD87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How do two measurements vary together?</a:t>
            </a:r>
            <a:endParaRPr lang="en-GB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F2A60-4857-375E-B817-126B2B69D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36755" y="1775449"/>
            <a:ext cx="5583238" cy="338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3237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D463-F891-E7F8-51A4-E899044F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323F-E864-16FF-4DBF-D92C418B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Scatter plots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23630-6E2E-7F06-FBCB-E530A091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4C1C-F003-8917-9E11-3320D52E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A1F72-52E2-083E-C651-30793E7D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18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9122F11-F7AC-EE0D-9A35-A82BA8987E9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How do two measurements vary together?</a:t>
            </a:r>
            <a:endParaRPr lang="en-GB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374CD0-8A61-AAAF-4ED3-63C8E5F46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936755" y="1775449"/>
            <a:ext cx="5583238" cy="338404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9052B45-3C5A-19EB-F7BE-7048EF1298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Most dots cluster around magnitude 2-3 and depths of roughly 0-20 km. Small, shallow earthquakes dominate this sample.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Larger-magnitude events are less common. There are fewer dots toward the right of the plot.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There is no obvious straight-line relationship between magnitude and depth. Earthquakes of similar magnitude occur at different depths.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02641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7D26-B1F1-464B-8B75-27B40C4B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Plot directly from pandas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4B769D-9EBC-1C49-D00E-2AFE137FE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243746"/>
                </a:solidFill>
                <a:ea typeface="Arial"/>
                <a:cs typeface="Arial"/>
              </a:rPr>
              <a:t>A Series plots one column. A </a:t>
            </a:r>
            <a:r>
              <a:rPr lang="en-GB" dirty="0" err="1">
                <a:solidFill>
                  <a:srgbClr val="243746"/>
                </a:solidFill>
                <a:ea typeface="Arial"/>
                <a:cs typeface="Arial"/>
              </a:rPr>
              <a:t>DataFrame</a:t>
            </a:r>
            <a:r>
              <a:rPr lang="en-GB" dirty="0">
                <a:solidFill>
                  <a:srgbClr val="243746"/>
                </a:solidFill>
                <a:ea typeface="Arial"/>
                <a:cs typeface="Arial"/>
              </a:rPr>
              <a:t> can compare columns.</a:t>
            </a: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r>
              <a:rPr lang="en-GB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eq.mag.plot</a:t>
            </a: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()   Also works</a:t>
            </a:r>
          </a:p>
          <a:p>
            <a:endParaRPr lang="en-GB" dirty="0">
              <a:solidFill>
                <a:srgbClr val="243746"/>
              </a:solidFill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DB9E7-C0C9-D235-E711-5A557DF2D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32324-5956-D426-B6C2-57802691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76717-1F94-F2C6-8920-6E4EA745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19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5A42F14-8808-47A9-B722-38164337D93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Choose the plot type for your question</a:t>
            </a:r>
            <a:endParaRPr lang="en-GB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2DFAA9-B9DF-1AC8-E680-CCE7CC68DE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3900256"/>
              </p:ext>
            </p:extLst>
          </p:nvPr>
        </p:nvGraphicFramePr>
        <p:xfrm>
          <a:off x="476250" y="2157044"/>
          <a:ext cx="11239500" cy="2238376"/>
        </p:xfrm>
        <a:graphic>
          <a:graphicData uri="http://schemas.openxmlformats.org/drawingml/2006/table">
            <a:tbl>
              <a:tblPr/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5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Plot type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14A"/>
                          </a:solidFill>
                          <a:latin typeface="Menlo"/>
                          <a:ea typeface="Menlo"/>
                          <a:cs typeface="Menlo"/>
                        </a:rPr>
                        <a:t>eq["mag"].plot()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Line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Values against index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14A"/>
                          </a:solidFill>
                          <a:latin typeface="Menlo"/>
                          <a:ea typeface="Menlo"/>
                          <a:cs typeface="Menlo"/>
                        </a:rPr>
                        <a:t>eq["mag"].plot.hist(bins=30)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Histogram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Magnitude distribution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2314A"/>
                          </a:solidFill>
                          <a:latin typeface="Menlo"/>
                          <a:ea typeface="Menlo"/>
                          <a:cs typeface="Menlo"/>
                        </a:rPr>
                        <a:t>eq.plot.scatter</a:t>
                      </a:r>
                      <a:r>
                        <a:rPr sz="1650" b="0" dirty="0">
                          <a:solidFill>
                            <a:srgbClr val="12314A"/>
                          </a:solidFill>
                          <a:latin typeface="Menlo"/>
                          <a:ea typeface="Menlo"/>
                          <a:cs typeface="Menlo"/>
                        </a:rPr>
                        <a:t>(x="mag", y="depth")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Scatter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Magnitude versus depth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49590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022D-5380-599D-3A58-437AF973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pandas and Matplotlib</a:t>
            </a:r>
            <a:b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A3AD-7C10-958B-B1B3-A04E34CD9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3048427"/>
          </a:xfrm>
        </p:spPr>
        <p:txBody>
          <a:bodyPr/>
          <a:lstStyle/>
          <a:p>
            <a:r>
              <a:rPr lang="en-GB" b="1" dirty="0">
                <a:ea typeface="Arial"/>
                <a:cs typeface="Arial"/>
              </a:rPr>
              <a:t>Matplotlib</a:t>
            </a:r>
            <a:endParaRPr lang="en-US" dirty="0"/>
          </a:p>
          <a:p>
            <a:endParaRPr lang="en-US" dirty="0"/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fig, 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ax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 = 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plt.subplots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()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ax.scatter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    sample["mag"],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    sample["depth"],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    s=10, alpha=0.3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A6D5F20-246C-29DE-87B5-CCAA039E7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20"/>
            <a:ext cx="5583238" cy="2837412"/>
          </a:xfrm>
        </p:spPr>
        <p:txBody>
          <a:bodyPr/>
          <a:lstStyle/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b="1" dirty="0">
                <a:latin typeface="Arial"/>
                <a:ea typeface="Arial"/>
                <a:cs typeface="Arial"/>
              </a:rPr>
              <a:t>Pandas</a:t>
            </a:r>
            <a:endParaRPr lang="en-GB" dirty="0">
              <a:latin typeface="Menlo"/>
              <a:ea typeface="Menlo"/>
              <a:cs typeface="Menlo"/>
            </a:endParaRP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ax</a:t>
            </a: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GB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sample.plot.scatter</a:t>
            </a: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x="mag",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y="depth",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s=10, alpha=0.3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GB" b="1" dirty="0">
              <a:solidFill>
                <a:srgbClr val="0000FF"/>
              </a:solidFill>
              <a:ea typeface="Arial"/>
              <a:cs typeface="Arial"/>
            </a:endParaRPr>
          </a:p>
          <a:p>
            <a:endParaRPr lang="en-GB" b="1" dirty="0">
              <a:solidFill>
                <a:srgbClr val="0000FF"/>
              </a:solidFill>
              <a:ea typeface="Arial"/>
              <a:cs typeface="Arial"/>
            </a:endParaRPr>
          </a:p>
          <a:p>
            <a:endParaRPr lang="en-GB" dirty="0"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F349F-6EAA-A312-2100-6626BFAB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E3A0-7CB0-9824-19C5-60657BF7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1992C-08AB-E984-95DE-DAED5C0A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20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0CFD75-9B6F-AD18-D063-0B883C1FB39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Two ways to draw the same scatter plot</a:t>
            </a:r>
          </a:p>
          <a:p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63EF7D-3D99-EE41-6921-154FD5E28B71}"/>
              </a:ext>
            </a:extLst>
          </p:cNvPr>
          <p:cNvSpPr txBox="1">
            <a:spLocks/>
          </p:cNvSpPr>
          <p:nvPr/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8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Data Science and Machine Learning for Geoscientists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A4FB1FE-CFC6-61C5-7317-ADABD0ACAAA6}"/>
              </a:ext>
            </a:extLst>
          </p:cNvPr>
          <p:cNvSpPr txBox="1">
            <a:spLocks/>
          </p:cNvSpPr>
          <p:nvPr/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ctr" defTabSz="914353" rtl="0" eaLnBrk="1" latinLnBrk="0" hangingPunct="1">
              <a:defRPr sz="85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F7333B-44AC-F7E9-D49D-FE92F45E0477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B58339-05F2-F13E-5216-7B5F1DB649B6}"/>
              </a:ext>
            </a:extLst>
          </p:cNvPr>
          <p:cNvSpPr txBox="1"/>
          <p:nvPr/>
        </p:nvSpPr>
        <p:spPr>
          <a:xfrm>
            <a:off x="2978944" y="4232032"/>
            <a:ext cx="60960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a typeface="Arial"/>
                <a:cs typeface="Arial"/>
              </a:rPr>
              <a:t>In both examples, </a:t>
            </a:r>
            <a:r>
              <a:rPr lang="en-GB" dirty="0" err="1">
                <a:ea typeface="Arial"/>
                <a:cs typeface="Arial"/>
              </a:rPr>
              <a:t>ax</a:t>
            </a:r>
            <a:r>
              <a:rPr lang="en-GB" dirty="0">
                <a:ea typeface="Arial"/>
                <a:cs typeface="Arial"/>
              </a:rPr>
              <a:t> is a Matplotlib plotting area:</a:t>
            </a:r>
          </a:p>
          <a:p>
            <a:endParaRPr lang="en-GB" dirty="0">
              <a:ea typeface="Arial"/>
              <a:cs typeface="Arial"/>
            </a:endParaRP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ax.set_xlabel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("Magnitude")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ax.set_ylabel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("Depth (km)")</a:t>
            </a:r>
            <a:endParaRPr lang="en-US" dirty="0"/>
          </a:p>
          <a:p>
            <a:endParaRPr lang="en-GB" dirty="0"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264493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AF46-0B93-25A1-623D-E7314046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Histograms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F2C08B-018C-B3C8-50AE-BDD3AE855D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ax.hist</a:t>
            </a: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  <a:r>
              <a:rPr lang="en-GB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eq</a:t>
            </a: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["mag"].</a:t>
            </a:r>
            <a:r>
              <a:rPr lang="en-GB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dropna</a:t>
            </a:r>
            <a:r>
              <a:rPr lang="en-GB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(), bins=30)</a:t>
            </a:r>
          </a:p>
          <a:p>
            <a:endParaRPr lang="en-GB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r>
              <a:rPr lang="en-GB" dirty="0">
                <a:ea typeface="Arial"/>
                <a:cs typeface="Arial"/>
              </a:rPr>
              <a:t>What changes when you change the number of bins?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77FD7-245E-CF1D-57AC-9229A61B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36AE9-F82B-6AE1-60E2-EAD553AD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03E26-395C-4EA3-9667-F1187010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21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5C5CAD9-F98F-801E-223E-722851D4CE3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The same measurements, different bin choices</a:t>
            </a:r>
            <a:endParaRPr lang="en-GB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C2F6F9-606F-705F-A63E-F528B5021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2622" y="2990948"/>
            <a:ext cx="7920643" cy="304103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813094A-BB7A-22A3-BB9F-240FA6F2D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199" y="1394620"/>
            <a:ext cx="4551363" cy="431451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Both panels show all 293145 natural-earthquake rows, using non-missing magnitudes.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 histogram groups numerical observations into intervals and counts how many fall in each.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Ten bins simplify the shape;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70 bins reveal finer variation but may emphasise noise.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 high bin count is not inherently better.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50488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D0120-9A31-0162-4576-1EA84EFE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DD23-AB28-9A72-D806-19DCFA41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B6730-6DE6-19BC-BB16-11E0DC2B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AAE02FF-BDFC-8BB0-795A-DA674BA9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Clear figures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40B630D-FD35-23DD-B670-A3D6F9B5D611}"/>
              </a:ext>
            </a:extLst>
          </p:cNvPr>
          <p:cNvSpPr txBox="1">
            <a:spLocks/>
          </p:cNvSpPr>
          <p:nvPr/>
        </p:nvSpPr>
        <p:spPr>
          <a:xfrm>
            <a:off x="325800" y="620196"/>
            <a:ext cx="11540763" cy="37156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 defTabSz="68576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765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7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0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12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295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177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060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Labels make the interpretation possible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8BAF07FA-69ED-CB97-47C1-208A0CBDD9D2}"/>
              </a:ext>
            </a:extLst>
          </p:cNvPr>
          <p:cNvSpPr txBox="1">
            <a:spLocks/>
          </p:cNvSpPr>
          <p:nvPr/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8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Data Science and Machine Learning for Geoscientists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C5C152C-BFA7-3BAE-56F4-5C77DE4BF4DF}"/>
              </a:ext>
            </a:extLst>
          </p:cNvPr>
          <p:cNvSpPr txBox="1">
            <a:spLocks/>
          </p:cNvSpPr>
          <p:nvPr/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ctr" defTabSz="914353" rtl="0" eaLnBrk="1" latinLnBrk="0" hangingPunct="1">
              <a:defRPr sz="85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F91274-D221-1BB4-3BF9-836E3AD31EBE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235954-F3AA-5C05-A49F-6E4A53C8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44320" y="1428750"/>
            <a:ext cx="10303360" cy="3476625"/>
          </a:xfrm>
          <a:prstGeom prst="rect">
            <a:avLst/>
          </a:prstGeom>
        </p:spPr>
      </p:pic>
      <p:sp>
        <p:nvSpPr>
          <p:cNvPr id="12" name="content-6">
            <a:extLst>
              <a:ext uri="{FF2B5EF4-FFF2-40B4-BE49-F238E27FC236}">
                <a16:creationId xmlns:a16="http://schemas.microsoft.com/office/drawing/2014/main" id="{80C0707B-7433-4D36-2A28-A0205CD71005}"/>
              </a:ext>
            </a:extLst>
          </p:cNvPr>
          <p:cNvSpPr>
            <a:spLocks noGrp="1"/>
          </p:cNvSpPr>
          <p:nvPr/>
        </p:nvSpPr>
        <p:spPr>
          <a:xfrm>
            <a:off x="476250" y="5143500"/>
            <a:ext cx="11239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</a:lstStyle>
          <a:p>
            <a:pPr>
              <a:buNone/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10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ax.set</a:t>
            </a:r>
            <a:r>
              <a:rPr sz="21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  <a:r>
              <a:rPr sz="210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xlabel</a:t>
            </a:r>
            <a:r>
              <a:rPr sz="21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="Magnitude", </a:t>
            </a:r>
            <a:r>
              <a:rPr sz="210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ylabel</a:t>
            </a:r>
            <a:r>
              <a:rPr sz="21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="Depth (km)")</a:t>
            </a:r>
          </a:p>
        </p:txBody>
      </p:sp>
    </p:spTree>
    <p:extLst>
      <p:ext uri="{BB962C8B-B14F-4D97-AF65-F5344CB8AC3E}">
        <p14:creationId xmlns:p14="http://schemas.microsoft.com/office/powerpoint/2010/main" val="40028918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87798-512F-892A-F6AA-7C56E804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33FE7-BCDD-BC05-D4DE-ECD9B9A7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DDDE8-0302-64B8-CE3B-3B06BA35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5F088D-9282-6D17-42F1-6C5CF37B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Subplots and export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526D65B-9D17-C552-671B-5076098C05E1}"/>
              </a:ext>
            </a:extLst>
          </p:cNvPr>
          <p:cNvSpPr txBox="1">
            <a:spLocks/>
          </p:cNvSpPr>
          <p:nvPr/>
        </p:nvSpPr>
        <p:spPr>
          <a:xfrm>
            <a:off x="325800" y="620196"/>
            <a:ext cx="11540763" cy="37156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 defTabSz="68576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765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7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0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12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295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177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060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Several views of the same dataset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3CD2D4-C7ED-886E-E826-A6315B1B56B3}"/>
              </a:ext>
            </a:extLst>
          </p:cNvPr>
          <p:cNvSpPr txBox="1">
            <a:spLocks/>
          </p:cNvSpPr>
          <p:nvPr/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8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Data Science and Machine Learning for Geoscientists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1B16ACD-4213-7877-A2EE-5C6788B66B76}"/>
              </a:ext>
            </a:extLst>
          </p:cNvPr>
          <p:cNvSpPr txBox="1">
            <a:spLocks/>
          </p:cNvSpPr>
          <p:nvPr/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ctr" defTabSz="914353" rtl="0" eaLnBrk="1" latinLnBrk="0" hangingPunct="1">
              <a:defRPr sz="85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4E025A-983C-6D44-79C6-4612AACD43FC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1" name="content-6">
            <a:extLst>
              <a:ext uri="{FF2B5EF4-FFF2-40B4-BE49-F238E27FC236}">
                <a16:creationId xmlns:a16="http://schemas.microsoft.com/office/drawing/2014/main" id="{312AEF39-CF8C-63D5-8272-6531C2E3CE90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11239500" cy="3619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</a:lstStyle>
          <a:p>
            <a:pPr>
              <a:buNone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fig, axes = 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plt.subplots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(1, 2, 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figsize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=(10, 4))</a:t>
            </a:r>
          </a:p>
          <a:p>
            <a:endParaRPr lang="en-GB" dirty="0">
              <a:solidFill>
                <a:srgbClr val="12314A"/>
              </a:solidFill>
              <a:ea typeface="Menlo"/>
              <a:cs typeface="Menlo"/>
            </a:endParaRPr>
          </a:p>
          <a:p>
            <a:pPr>
              <a:buNone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axes[0].hist(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eq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["mag"].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dropna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(), bins=30)</a:t>
            </a:r>
          </a:p>
          <a:p>
            <a:pPr>
              <a:buNone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axes[0].set(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xlabel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="Magnitude", 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ylabel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="Count")</a:t>
            </a:r>
          </a:p>
          <a:p>
            <a:endParaRPr lang="en-GB" dirty="0">
              <a:solidFill>
                <a:srgbClr val="12314A"/>
              </a:solidFill>
              <a:ea typeface="Menlo"/>
              <a:cs typeface="Menlo"/>
            </a:endParaRPr>
          </a:p>
          <a:p>
            <a:pPr>
              <a:buNone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axes[1].hist(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eq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["depth"].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dropna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(), bins=30)</a:t>
            </a:r>
          </a:p>
          <a:p>
            <a:pPr>
              <a:buNone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axes[1].set(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xlabel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="Depth (km)", 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ylabel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="Count")</a:t>
            </a:r>
          </a:p>
          <a:p>
            <a:endParaRPr lang="en-GB" dirty="0">
              <a:solidFill>
                <a:srgbClr val="12314A"/>
              </a:solidFill>
              <a:ea typeface="Menlo"/>
              <a:cs typeface="Menlo"/>
            </a:endParaRPr>
          </a:p>
          <a:p>
            <a:endParaRPr lang="en-GB" dirty="0">
              <a:solidFill>
                <a:srgbClr val="12314A"/>
              </a:solidFill>
              <a:ea typeface="Menlo"/>
              <a:cs typeface="Menlo"/>
            </a:endParaRP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fig.tight_layout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() #</a:t>
            </a:r>
            <a:r>
              <a:rPr lang="en-GB" altLang="en-US" dirty="0"/>
              <a:t>automatically adjusts subplot parameters </a:t>
            </a: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>
              <a:solidFill>
                <a:srgbClr val="12314A"/>
              </a:solidFill>
              <a:ea typeface="Menlo"/>
              <a:cs typeface="Menlo"/>
            </a:endParaRPr>
          </a:p>
          <a:p>
            <a:pPr>
              <a:buNone/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fig.savefig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("</a:t>
            </a:r>
            <a:r>
              <a:rPr lang="en-GB" dirty="0" err="1">
                <a:solidFill>
                  <a:srgbClr val="12314A"/>
                </a:solidFill>
                <a:ea typeface="Menlo"/>
                <a:cs typeface="Menlo"/>
              </a:rPr>
              <a:t>earthquake_distributions.png</a:t>
            </a:r>
            <a:r>
              <a:rPr lang="en-GB" dirty="0">
                <a:solidFill>
                  <a:srgbClr val="12314A"/>
                </a:solidFill>
                <a:ea typeface="Menlo"/>
                <a:cs typeface="Menlo"/>
              </a:rPr>
              <a:t>", dpi=300)</a:t>
            </a:r>
          </a:p>
        </p:txBody>
      </p:sp>
    </p:spTree>
    <p:extLst>
      <p:ext uri="{BB962C8B-B14F-4D97-AF65-F5344CB8AC3E}">
        <p14:creationId xmlns:p14="http://schemas.microsoft.com/office/powerpoint/2010/main" val="306060356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2577-9665-2FD5-D152-2D1F7B57A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BFF61-D85C-E415-CBF4-8A9823E3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Seaborn is a statistical visualisation library built on Matplotlib. It works conveniently with pandas </a:t>
            </a:r>
            <a:r>
              <a:rPr lang="en-GB" dirty="0" err="1"/>
              <a:t>DataFrames</a:t>
            </a:r>
            <a:r>
              <a:rPr lang="en-GB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Relatively easy to get started; can make nice plots with a few lines of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You can combine both libraries to get to the best of both worlds</a:t>
            </a:r>
          </a:p>
          <a:p>
            <a:pPr marL="323984" lvl="4" indent="0">
              <a:lnSpc>
                <a:spcPct val="150000"/>
              </a:lnSpc>
              <a:buNone/>
            </a:pPr>
            <a:endParaRPr lang="en-GB" dirty="0"/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0F96F-C48F-D8F5-EB90-538B2B096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02844-7027-DC90-593B-DEEA706C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49C51-5888-11B8-035F-5083EBE5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24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1AB812B-E342-5A04-0832-FDB4FBD256D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Statistical data </a:t>
            </a:r>
            <a:r>
              <a:rPr lang="en-US" dirty="0" err="1"/>
              <a:t>visualisation</a:t>
            </a:r>
            <a:endParaRPr lang="en-US" dirty="0"/>
          </a:p>
        </p:txBody>
      </p:sp>
      <p:pic>
        <p:nvPicPr>
          <p:cNvPr id="8" name="Picture 2" descr="seaborn · PyPI">
            <a:extLst>
              <a:ext uri="{FF2B5EF4-FFF2-40B4-BE49-F238E27FC236}">
                <a16:creationId xmlns:a16="http://schemas.microsoft.com/office/drawing/2014/main" id="{22E8B3BA-6954-8785-4FFD-6633FC2A3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908" y="4412635"/>
            <a:ext cx="3974691" cy="113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8ECBA0CB-098D-8E51-CF5E-BB11E5DED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290" y="3271436"/>
            <a:ext cx="3360510" cy="296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91463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33D1F-C2FE-DD63-183E-82266E28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528DC-DA23-DF7A-6B83-0E5DE7A6F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65991-2105-8BD7-AA23-D2CC5A7A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D2879A0-DD70-FCC4-C9EA-2D4B9C5B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Seaborn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022EF7C-36F3-B080-1B7E-5D0ED5802AAA}"/>
              </a:ext>
            </a:extLst>
          </p:cNvPr>
          <p:cNvSpPr txBox="1">
            <a:spLocks/>
          </p:cNvSpPr>
          <p:nvPr/>
        </p:nvSpPr>
        <p:spPr>
          <a:xfrm>
            <a:off x="325800" y="620196"/>
            <a:ext cx="11540763" cy="37156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 defTabSz="68576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765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7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0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12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295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177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060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Statistical plotting with DataFrames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813FD2E8-E6B6-E7EA-F81E-FEE85EC048E8}"/>
              </a:ext>
            </a:extLst>
          </p:cNvPr>
          <p:cNvSpPr txBox="1">
            <a:spLocks/>
          </p:cNvSpPr>
          <p:nvPr/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8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Data Science and Machine Learning for Geoscientists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471203E-20D9-0178-BF5C-F3252A772D97}"/>
              </a:ext>
            </a:extLst>
          </p:cNvPr>
          <p:cNvSpPr txBox="1">
            <a:spLocks/>
          </p:cNvSpPr>
          <p:nvPr/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ctr" defTabSz="914353" rtl="0" eaLnBrk="1" latinLnBrk="0" hangingPunct="1">
              <a:defRPr sz="85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B18BA8-60F4-C50D-CD9B-1BB87D3E8506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199AFA-3060-6C80-AA27-124DCEBE5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70676" y="1476375"/>
            <a:ext cx="5888148" cy="3905250"/>
          </a:xfrm>
          <a:prstGeom prst="rect">
            <a:avLst/>
          </a:prstGeom>
        </p:spPr>
      </p:pic>
      <p:sp>
        <p:nvSpPr>
          <p:cNvPr id="12" name="content-6">
            <a:extLst>
              <a:ext uri="{FF2B5EF4-FFF2-40B4-BE49-F238E27FC236}">
                <a16:creationId xmlns:a16="http://schemas.microsoft.com/office/drawing/2014/main" id="{768E30FF-F248-A538-BE65-D8C76376D306}"/>
              </a:ext>
            </a:extLst>
          </p:cNvPr>
          <p:cNvSpPr>
            <a:spLocks noGrp="1"/>
          </p:cNvSpPr>
          <p:nvPr/>
        </p:nvSpPr>
        <p:spPr>
          <a:xfrm>
            <a:off x="7381875" y="1571625"/>
            <a:ext cx="4333875" cy="3524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</a:lstStyle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import seaborn as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sns</a:t>
            </a:r>
            <a:endParaRPr sz="187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endParaRPr sz="187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ax =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sns.scatterplot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data=sample,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x="mag", y="depth",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alpha=0.3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ax.set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xlabel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="Magnitude",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ylabel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="Depth (km)"</a:t>
            </a: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  <a:endParaRPr lang="nb-NO" sz="187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buNone/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sz="187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FEC5BA-EDED-CF70-2877-6DDE968236DB}"/>
              </a:ext>
            </a:extLst>
          </p:cNvPr>
          <p:cNvSpPr txBox="1"/>
          <p:nvPr/>
        </p:nvSpPr>
        <p:spPr>
          <a:xfrm>
            <a:off x="3335332" y="5590171"/>
            <a:ext cx="6412523" cy="74263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Seaborn is built on Matplotlib, so they work together.</a:t>
            </a: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Use Seaborn to create the plot, then Matplotlib to customise it.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886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DE7B4F1-4326-566C-BB1F-336FBCCF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lang="nb-NO"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Seaborn</a:t>
            </a:r>
            <a:endParaRPr sz="2640" b="1" dirty="0">
              <a:solidFill>
                <a:srgbClr val="00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47ACF4B-4FA1-1EF6-6B27-EB7AA5285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886" y="1394620"/>
            <a:ext cx="4453677" cy="3987006"/>
          </a:xfrm>
        </p:spPr>
        <p:txBody>
          <a:bodyPr/>
          <a:lstStyle/>
          <a:p>
            <a:r>
              <a:rPr lang="en-GB" b="1" dirty="0">
                <a:ea typeface="Arial"/>
                <a:cs typeface="Arial"/>
              </a:rPr>
              <a:t>Magnitude and significance</a:t>
            </a:r>
          </a:p>
          <a:p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dirty="0"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dirty="0" err="1"/>
              <a:t>regplot</a:t>
            </a:r>
            <a:r>
              <a:rPr lang="en-GB" dirty="0"/>
              <a:t> adds a fitted regression line; scatterplot does not.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dirty="0"/>
              <a:t>The line is descriptive, not a validated predictive model.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dirty="0"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latin typeface="Arial"/>
                <a:ea typeface="Arial"/>
                <a:cs typeface="Arial"/>
              </a:rPr>
              <a:t>A strong association needs a meaningful explanation.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2100" dirty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The significance score already uses magnitude in its calculation.</a:t>
            </a:r>
            <a:endParaRPr lang="en-GB" dirty="0"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dirty="0">
              <a:latin typeface="Arial"/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DE704-3CAB-D499-D7BE-0D28A944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086F4-BA63-1F62-8815-1CAD79049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D342A-FE38-D2F7-7E66-542D722B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EDB44FC-DE2C-2BC3-67D1-644E85CB8039}"/>
              </a:ext>
            </a:extLst>
          </p:cNvPr>
          <p:cNvSpPr txBox="1">
            <a:spLocks/>
          </p:cNvSpPr>
          <p:nvPr/>
        </p:nvSpPr>
        <p:spPr>
          <a:xfrm>
            <a:off x="325800" y="620196"/>
            <a:ext cx="11540763" cy="37156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 defTabSz="68576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765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7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0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12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295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177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060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sz="2400" dirty="0">
                <a:latin typeface="Arial"/>
                <a:ea typeface="Arial"/>
                <a:cs typeface="Arial"/>
              </a:rPr>
              <a:t>Relationships between variables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BCDCE7C-F792-CD53-2FC7-477F40D7DFB7}"/>
              </a:ext>
            </a:extLst>
          </p:cNvPr>
          <p:cNvSpPr txBox="1">
            <a:spLocks/>
          </p:cNvSpPr>
          <p:nvPr/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8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Data Science and Machine Learning for Geoscientists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FD344D2-9D47-9F26-46B2-1E9D607A5995}"/>
              </a:ext>
            </a:extLst>
          </p:cNvPr>
          <p:cNvSpPr txBox="1">
            <a:spLocks/>
          </p:cNvSpPr>
          <p:nvPr/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ctr" defTabSz="914353" rtl="0" eaLnBrk="1" latinLnBrk="0" hangingPunct="1">
              <a:defRPr sz="85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59AF09-D197-0193-A7DE-FAAF0B691058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10" name="content-5">
            <a:extLst>
              <a:ext uri="{FF2B5EF4-FFF2-40B4-BE49-F238E27FC236}">
                <a16:creationId xmlns:a16="http://schemas.microsoft.com/office/drawing/2014/main" id="{A2F34ECB-EDAF-390A-5A95-75F622DC4DAB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2"/>
              </a:rPr>
              <a:t>Seaborn regression documentation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313E85-904B-EC81-2012-4B78D6014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3363" y="1381125"/>
            <a:ext cx="6729523" cy="4000500"/>
          </a:xfrm>
          <a:prstGeom prst="rect">
            <a:avLst/>
          </a:prstGeom>
        </p:spPr>
      </p:pic>
      <p:sp>
        <p:nvSpPr>
          <p:cNvPr id="13" name="content-7">
            <a:extLst>
              <a:ext uri="{FF2B5EF4-FFF2-40B4-BE49-F238E27FC236}">
                <a16:creationId xmlns:a16="http://schemas.microsoft.com/office/drawing/2014/main" id="{F0665BA2-10DA-C30F-01F9-8A647C6FE563}"/>
              </a:ext>
            </a:extLst>
          </p:cNvPr>
          <p:cNvSpPr>
            <a:spLocks noGrp="1"/>
          </p:cNvSpPr>
          <p:nvPr/>
        </p:nvSpPr>
        <p:spPr>
          <a:xfrm>
            <a:off x="7858125" y="2762250"/>
            <a:ext cx="3857625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sz="2100" b="0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content-9">
            <a:extLst>
              <a:ext uri="{FF2B5EF4-FFF2-40B4-BE49-F238E27FC236}">
                <a16:creationId xmlns:a16="http://schemas.microsoft.com/office/drawing/2014/main" id="{EA58D328-2152-B44B-D3F9-1508FC984453}"/>
              </a:ext>
            </a:extLst>
          </p:cNvPr>
          <p:cNvSpPr>
            <a:spLocks noGrp="1"/>
          </p:cNvSpPr>
          <p:nvPr/>
        </p:nvSpPr>
        <p:spPr>
          <a:xfrm>
            <a:off x="476250" y="55721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</a:lstStyle>
          <a:p>
            <a:pPr>
              <a:buNone/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sns.regplot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(data=sample, x="mag", y="sig")</a:t>
            </a:r>
          </a:p>
        </p:txBody>
      </p:sp>
    </p:spTree>
    <p:extLst>
      <p:ext uri="{BB962C8B-B14F-4D97-AF65-F5344CB8AC3E}">
        <p14:creationId xmlns:p14="http://schemas.microsoft.com/office/powerpoint/2010/main" val="258268686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523F4-DC5C-8D53-6883-F97D37B4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46834-3834-B666-0AA0-6038E229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049C8-8EAD-C557-9E00-222E6434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27</a:t>
            </a:fld>
            <a:endParaRPr lang="en-GB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8087C2A-D9DF-6601-7898-A5EDD915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lang="en-GB"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Seaborn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CD75CBE-8B53-175F-2FAD-8DFDD8746260}"/>
              </a:ext>
            </a:extLst>
          </p:cNvPr>
          <p:cNvSpPr txBox="1">
            <a:spLocks/>
          </p:cNvSpPr>
          <p:nvPr/>
        </p:nvSpPr>
        <p:spPr>
          <a:xfrm>
            <a:off x="325800" y="620196"/>
            <a:ext cx="11540763" cy="37156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 defTabSz="68576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kern="12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685765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7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0" indent="0" algn="ctr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12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295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177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060" indent="0" algn="ctr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sz="2400" dirty="0" err="1">
                <a:solidFill>
                  <a:srgbClr val="8064FF"/>
                </a:solidFill>
                <a:latin typeface="Arial"/>
                <a:ea typeface="Arial"/>
                <a:cs typeface="Arial"/>
              </a:rPr>
              <a:t>Pairplots</a:t>
            </a:r>
            <a:endParaRPr lang="en-GB" sz="2400" dirty="0">
              <a:solidFill>
                <a:srgbClr val="8064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0C26E35B-B8EA-CB0B-BD95-F9D33083727F}"/>
              </a:ext>
            </a:extLst>
          </p:cNvPr>
          <p:cNvSpPr txBox="1">
            <a:spLocks/>
          </p:cNvSpPr>
          <p:nvPr/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8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Data Science and Machine Learning for Geoscientists</a:t>
            </a: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CC1806EC-3869-82DD-F449-AD1A53A50587}"/>
              </a:ext>
            </a:extLst>
          </p:cNvPr>
          <p:cNvSpPr txBox="1">
            <a:spLocks/>
          </p:cNvSpPr>
          <p:nvPr/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algn="ctr" defTabSz="914353" rtl="0" eaLnBrk="1" latinLnBrk="0" hangingPunct="1">
              <a:defRPr sz="85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AE1AE4-D79E-94D6-E825-3FC6C21A77D2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8D8BC14-AB64-87FB-A67C-E4FC0B17C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24373" y="620196"/>
            <a:ext cx="5860458" cy="4667152"/>
          </a:xfrm>
          <a:prstGeom prst="rect">
            <a:avLst/>
          </a:prstGeom>
        </p:spPr>
      </p:pic>
      <p:sp>
        <p:nvSpPr>
          <p:cNvPr id="27" name="content-7">
            <a:extLst>
              <a:ext uri="{FF2B5EF4-FFF2-40B4-BE49-F238E27FC236}">
                <a16:creationId xmlns:a16="http://schemas.microsoft.com/office/drawing/2014/main" id="{70BC0E81-4F09-090B-D669-7F38FDE78B5C}"/>
              </a:ext>
            </a:extLst>
          </p:cNvPr>
          <p:cNvSpPr>
            <a:spLocks noGrp="1"/>
          </p:cNvSpPr>
          <p:nvPr/>
        </p:nvSpPr>
        <p:spPr>
          <a:xfrm>
            <a:off x="8286750" y="1793631"/>
            <a:ext cx="3333750" cy="34231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2000" b="1" dirty="0">
                <a:latin typeface="Arial"/>
                <a:ea typeface="Arial"/>
                <a:cs typeface="Arial"/>
              </a:rPr>
              <a:t>Diagonal:</a:t>
            </a:r>
            <a:endParaRPr lang="nb-NO" sz="2000" b="0" dirty="0">
              <a:latin typeface="Arial"/>
              <a:ea typeface="Arial"/>
              <a:cs typeface="Arial"/>
            </a:endParaRPr>
          </a:p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latin typeface="Arial"/>
                <a:ea typeface="Arial"/>
                <a:cs typeface="Arial"/>
              </a:rPr>
              <a:t>One variable’s distribution</a:t>
            </a:r>
            <a:endParaRPr lang="nb-NO" sz="2000" b="0" dirty="0">
              <a:latin typeface="Arial"/>
              <a:ea typeface="Arial"/>
              <a:cs typeface="Arial"/>
            </a:endParaRPr>
          </a:p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sz="2000" dirty="0"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2000" b="1" dirty="0">
                <a:latin typeface="Arial"/>
                <a:ea typeface="Arial"/>
                <a:cs typeface="Arial"/>
              </a:rPr>
              <a:t>Off-diagonal</a:t>
            </a:r>
          </a:p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2000" dirty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Relationships between</a:t>
            </a:r>
          </a:p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2000" dirty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two variables</a:t>
            </a:r>
          </a:p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sz="2000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sz="2000" b="1" dirty="0">
              <a:latin typeface="Arial"/>
              <a:ea typeface="Arial"/>
              <a:cs typeface="Arial"/>
            </a:endParaRPr>
          </a:p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sz="2000" b="0" dirty="0">
              <a:latin typeface="Arial"/>
              <a:ea typeface="Arial"/>
              <a:cs typeface="Arial"/>
            </a:endParaRPr>
          </a:p>
        </p:txBody>
      </p:sp>
      <p:sp>
        <p:nvSpPr>
          <p:cNvPr id="28" name="content-8">
            <a:extLst>
              <a:ext uri="{FF2B5EF4-FFF2-40B4-BE49-F238E27FC236}">
                <a16:creationId xmlns:a16="http://schemas.microsoft.com/office/drawing/2014/main" id="{E4BB2AFF-963B-7C4F-5B97-AE05F0104C76}"/>
              </a:ext>
            </a:extLst>
          </p:cNvPr>
          <p:cNvSpPr>
            <a:spLocks noGrp="1"/>
          </p:cNvSpPr>
          <p:nvPr/>
        </p:nvSpPr>
        <p:spPr>
          <a:xfrm>
            <a:off x="8286750" y="33147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endParaRPr sz="2100" b="1" dirty="0">
              <a:solidFill>
                <a:srgbClr val="007E8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D06321-3662-0ABF-8B7D-AB5898F4E184}"/>
              </a:ext>
            </a:extLst>
          </p:cNvPr>
          <p:cNvSpPr txBox="1"/>
          <p:nvPr/>
        </p:nvSpPr>
        <p:spPr>
          <a:xfrm>
            <a:off x="597877" y="5424634"/>
            <a:ext cx="1080352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dirty="0" err="1"/>
              <a:t>sns.pairplot</a:t>
            </a:r>
            <a:r>
              <a:rPr lang="en-GB" dirty="0"/>
              <a:t>(data=subset, </a:t>
            </a:r>
            <a:r>
              <a:rPr lang="en-GB" dirty="0" err="1"/>
              <a:t>diag_kind</a:t>
            </a:r>
            <a:r>
              <a:rPr lang="en-GB" dirty="0"/>
              <a:t>="hist")</a:t>
            </a:r>
          </a:p>
          <a:p>
            <a:pPr>
              <a:buNone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dirty="0"/>
              <a:t>Example: 500 earthquakes with magnitude ≥ 4.8, using magnitude, depth and significance.</a:t>
            </a:r>
            <a:endParaRPr lang="en-GB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24835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1E9A8D36-E65A-6902-B69F-C64E51FB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Earthquake locations</a:t>
            </a:r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FFAC4D5E-F442-CD35-0E0E-92A67B71A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6110169" cy="4866481"/>
          </a:xfrm>
        </p:spPr>
        <p:txBody>
          <a:bodyPr/>
          <a:lstStyle/>
          <a:p>
            <a:endParaRPr lang="en-US" dirty="0"/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950" b="1" dirty="0"/>
              <a:t>Matplotlib: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US" dirty="0" err="1"/>
              <a:t>plt.scatter</a:t>
            </a:r>
            <a:r>
              <a:rPr lang="en-US" dirty="0"/>
              <a:t>(sample["longitude"], sample["latitude"], c=sample["depth"], </a:t>
            </a:r>
            <a:r>
              <a:rPr lang="en-US" dirty="0" err="1"/>
              <a:t>cmap</a:t>
            </a:r>
            <a:r>
              <a:rPr lang="en-US" dirty="0"/>
              <a:t>="</a:t>
            </a:r>
            <a:r>
              <a:rPr lang="en-US" dirty="0" err="1"/>
              <a:t>viridis</a:t>
            </a:r>
            <a:r>
              <a:rPr lang="en-US" dirty="0"/>
              <a:t>", s=7, alpha=0.6)</a:t>
            </a:r>
          </a:p>
          <a:p>
            <a:endParaRPr lang="en-US" dirty="0"/>
          </a:p>
          <a:p>
            <a:r>
              <a:rPr lang="en-GB" b="1" dirty="0"/>
              <a:t>Seaborn alternative:</a:t>
            </a:r>
            <a:endParaRPr lang="en-GB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endParaRPr lang="en-US" dirty="0"/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 err="1"/>
              <a:t>sns.scatterplot</a:t>
            </a:r>
            <a:r>
              <a:rPr lang="en-GB" dirty="0"/>
              <a:t>(data=sample, x="longitude", y="latitude", hue="depth", palette="</a:t>
            </a:r>
            <a:r>
              <a:rPr lang="en-GB" dirty="0" err="1"/>
              <a:t>viridis</a:t>
            </a:r>
            <a:r>
              <a:rPr lang="en-GB" dirty="0"/>
              <a:t>", s=7, alpha=0.6)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64650-AF08-58A8-F499-D01D2556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DD9AB-8488-28DA-52AC-41672734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9A489-D17C-2EDF-6825-1CA6D03A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C225197C-0134-7F57-701D-4FA7359E204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dirty="0"/>
              <a:t>Colour represents event depth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6D6432C-8BAD-C325-68B7-91F23411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435969" y="999421"/>
            <a:ext cx="5439027" cy="510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8034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60A7-B8F4-9EC2-31D2-3B91CBD7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  <a:ea typeface="Arial"/>
                <a:cs typeface="Arial"/>
              </a:rPr>
              <a:t>More visualisation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CC1A-9776-979F-22AE-87631ED61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18" y="5005754"/>
            <a:ext cx="11540763" cy="739531"/>
          </a:xfrm>
        </p:spPr>
        <p:txBody>
          <a:bodyPr/>
          <a:lstStyle/>
          <a:p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 will add an optional notebook with short examples to help you try </a:t>
            </a:r>
            <a:r>
              <a:rPr lang="en-GB" dirty="0">
                <a:solidFill>
                  <a:srgbClr val="243746"/>
                </a:solidFill>
                <a:latin typeface="Arial"/>
                <a:ea typeface="Arial"/>
                <a:cs typeface="Arial"/>
                <a:hlinkClick r:id="rId2"/>
              </a:rPr>
              <a:t>Plotly</a:t>
            </a:r>
            <a:r>
              <a:rPr lang="en-GB" dirty="0">
                <a:solidFill>
                  <a:srgbClr val="243746"/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GB" dirty="0">
                <a:solidFill>
                  <a:srgbClr val="243746"/>
                </a:solidFill>
                <a:latin typeface="Arial"/>
                <a:ea typeface="Arial"/>
                <a:cs typeface="Arial"/>
                <a:hlinkClick r:id="rId3"/>
              </a:rPr>
              <a:t>Manim</a:t>
            </a:r>
            <a:r>
              <a:rPr lang="en-GB" dirty="0">
                <a:solidFill>
                  <a:srgbClr val="243746"/>
                </a:solidFill>
                <a:latin typeface="Arial"/>
                <a:ea typeface="Arial"/>
                <a:cs typeface="Arial"/>
              </a:rPr>
              <a:t> and become familiar with them.</a:t>
            </a:r>
            <a:endParaRPr lang="en-GB" sz="2400" dirty="0">
              <a:solidFill>
                <a:srgbClr val="007E87"/>
              </a:solidFill>
              <a:latin typeface="Arial"/>
              <a:ea typeface="Arial"/>
              <a:cs typeface="Arial"/>
              <a:hlinkClick r:id="rId2"/>
            </a:endParaRPr>
          </a:p>
          <a:p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GB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0B68B-56B7-DC4A-0AEF-3493748B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F6279-C1A6-6D00-D3C8-3C52B655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2F4D8-E25C-7B52-623B-8C597B587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29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00A362-7E8F-AFDA-E03C-39891D10903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8064FF"/>
                </a:solidFill>
                <a:ea typeface="Arial"/>
                <a:cs typeface="Arial"/>
              </a:rPr>
              <a:t>Interactive plots and explanatory animations</a:t>
            </a:r>
            <a:endParaRPr lang="en-GB" dirty="0"/>
          </a:p>
          <a:p>
            <a:endParaRPr lang="en-US" dirty="0"/>
          </a:p>
        </p:txBody>
      </p:sp>
      <p:sp>
        <p:nvSpPr>
          <p:cNvPr id="8" name="content-7">
            <a:extLst>
              <a:ext uri="{FF2B5EF4-FFF2-40B4-BE49-F238E27FC236}">
                <a16:creationId xmlns:a16="http://schemas.microsoft.com/office/drawing/2014/main" id="{ABF1A73F-E616-9663-C31B-A5EA2C961631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007E87"/>
              </a:solidFill>
              <a:latin typeface="Arial"/>
              <a:ea typeface="Arial"/>
              <a:cs typeface="Arial"/>
              <a:hlinkClick r:id="rId2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7ABE7E9-6340-2C05-2715-75894988FE97}"/>
              </a:ext>
            </a:extLst>
          </p:cNvPr>
          <p:cNvGraphicFramePr/>
          <p:nvPr/>
        </p:nvGraphicFramePr>
        <p:xfrm>
          <a:off x="476250" y="1571625"/>
          <a:ext cx="11239500" cy="28575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20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for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Matplotlib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Creating and customising scientific figures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Seaborn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Exploring statistical patterns in tables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Plotly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Interactive plots: zoom, hover and explore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Manim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Animations that explain concepts step by step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87736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0AE1-71DE-D16D-2417-17DA481D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plots with Matplotlib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6F891-CF68-F53B-F979-6C04C5156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1" y="1394619"/>
            <a:ext cx="6168353" cy="4866481"/>
          </a:xfrm>
        </p:spPr>
        <p:txBody>
          <a:bodyPr/>
          <a:lstStyle/>
          <a:p>
            <a:r>
              <a:rPr lang="en-US" sz="1800" dirty="0"/>
              <a:t>Install in terminal: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pip install </a:t>
            </a:r>
            <a:r>
              <a:rPr lang="en-US" sz="1800" dirty="0" err="1"/>
              <a:t>ipympl</a:t>
            </a: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For </a:t>
            </a:r>
            <a:r>
              <a:rPr lang="en-US" sz="1800" dirty="0" err="1"/>
              <a:t>conda</a:t>
            </a:r>
            <a:r>
              <a:rPr lang="en-US" sz="1800" dirty="0"/>
              <a:t> environment: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conda</a:t>
            </a:r>
            <a:r>
              <a:rPr lang="en-US" sz="1800" dirty="0"/>
              <a:t> install -c </a:t>
            </a:r>
            <a:r>
              <a:rPr lang="en-US" sz="1800" dirty="0" err="1"/>
              <a:t>conda</a:t>
            </a:r>
            <a:r>
              <a:rPr lang="en-US" sz="1800" dirty="0"/>
              <a:t>-forge </a:t>
            </a:r>
            <a:r>
              <a:rPr lang="en-US" sz="1800" dirty="0" err="1"/>
              <a:t>ipympl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Restart the kernel</a:t>
            </a:r>
          </a:p>
          <a:p>
            <a:r>
              <a:rPr lang="en-US" sz="1800" dirty="0"/>
              <a:t>Add this line before importing matplotlib</a:t>
            </a:r>
          </a:p>
          <a:p>
            <a:r>
              <a:rPr lang="en-GB" sz="1800" dirty="0"/>
              <a:t>%matplotlib widget</a:t>
            </a:r>
          </a:p>
          <a:p>
            <a:r>
              <a:rPr lang="en-GB" sz="1800" dirty="0"/>
              <a:t>import </a:t>
            </a:r>
            <a:r>
              <a:rPr lang="en-GB" sz="1800" dirty="0" err="1"/>
              <a:t>matplotlib.pyplot</a:t>
            </a:r>
            <a:r>
              <a:rPr lang="en-GB" sz="1800" dirty="0"/>
              <a:t> as </a:t>
            </a:r>
            <a:r>
              <a:rPr lang="en-GB" sz="1800" dirty="0" err="1"/>
              <a:t>plt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210CC-30CB-6B8D-6A94-941046CA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DC8DF-8F74-689A-758B-26CEF7B5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C1BAE-1EF9-5D7C-4DC4-175EDA7C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30</a:t>
            </a:fld>
            <a:endParaRPr lang="en-GB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14D62837-1394-8B7C-6D07-83875019525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4BADAF-700D-EB13-7988-9215B1EB2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246" y="101112"/>
            <a:ext cx="5898654" cy="2003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0CBA8D-5ED1-2A35-62B8-438B2562F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88" y="2154438"/>
            <a:ext cx="5201143" cy="460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8503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19258-9978-18E4-F525-9125A78D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22/10/2026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70371-BB98-4C5F-685F-886594C7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8C3EF-05FF-E6D7-9A5A-7278CBA8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31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82E509-737D-3290-0F6F-E2D629BA7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42026"/>
            <a:ext cx="6486597" cy="49739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3A0274-9B84-98A9-7D01-02F28AF07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97" y="1911709"/>
            <a:ext cx="4970104" cy="377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8206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16_9 template.potx" id="{0A6366DA-4143-4819-954D-649CAC6891CC}" vid="{00E466E9-FA83-448D-94BE-48FEA435C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17180</TotalTime>
  <Words>2247</Words>
  <Application>Microsoft Macintosh PowerPoint</Application>
  <PresentationFormat>Widescreen</PresentationFormat>
  <Paragraphs>486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Cambria Math</vt:lpstr>
      <vt:lpstr>Calibri</vt:lpstr>
      <vt:lpstr>Wingdings</vt:lpstr>
      <vt:lpstr>System Font Regular</vt:lpstr>
      <vt:lpstr>Menlo</vt:lpstr>
      <vt:lpstr>-webkit-standard</vt:lpstr>
      <vt:lpstr>Arial</vt:lpstr>
      <vt:lpstr>ICL PPT Theme</vt:lpstr>
      <vt:lpstr>PowerPoint Presentation</vt:lpstr>
      <vt:lpstr>Today’s lecture</vt:lpstr>
      <vt:lpstr>Exercise 1 recap</vt:lpstr>
      <vt:lpstr>Recap</vt:lpstr>
      <vt:lpstr>Exercise 1 recap</vt:lpstr>
      <vt:lpstr>Exercise 1 recap</vt:lpstr>
      <vt:lpstr>Exercise 3 recap</vt:lpstr>
      <vt:lpstr>Exercise 4 recap</vt:lpstr>
      <vt:lpstr>Exercise 4 recap</vt:lpstr>
      <vt:lpstr>Exercise 4 recap</vt:lpstr>
      <vt:lpstr>Exercise 4 recap</vt:lpstr>
      <vt:lpstr>Exercise 4 recap</vt:lpstr>
      <vt:lpstr>Exploratory data analysis</vt:lpstr>
      <vt:lpstr>Matplotlib</vt:lpstr>
      <vt:lpstr>Exploratory data analysis</vt:lpstr>
      <vt:lpstr>Matplotlib</vt:lpstr>
      <vt:lpstr>Scatter plots</vt:lpstr>
      <vt:lpstr>Scatter plots</vt:lpstr>
      <vt:lpstr>Plot directly from pandas</vt:lpstr>
      <vt:lpstr>pandas and Matplotlib </vt:lpstr>
      <vt:lpstr>Histograms</vt:lpstr>
      <vt:lpstr>Clear figures</vt:lpstr>
      <vt:lpstr>Subplots and export</vt:lpstr>
      <vt:lpstr>Seaborn</vt:lpstr>
      <vt:lpstr>Seaborn</vt:lpstr>
      <vt:lpstr>Seaborn</vt:lpstr>
      <vt:lpstr>Seaborn</vt:lpstr>
      <vt:lpstr>Earthquake locations</vt:lpstr>
      <vt:lpstr>More visualisation tools</vt:lpstr>
      <vt:lpstr>Interactive plots with Matplotlib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Calderon Agudo</dc:creator>
  <cp:lastModifiedBy>Abolpour Mofrad, Samaneh</cp:lastModifiedBy>
  <cp:revision>138</cp:revision>
  <dcterms:created xsi:type="dcterms:W3CDTF">2025-04-14T10:23:57Z</dcterms:created>
  <dcterms:modified xsi:type="dcterms:W3CDTF">2026-10-22T10:40:53Z</dcterms:modified>
</cp:coreProperties>
</file>